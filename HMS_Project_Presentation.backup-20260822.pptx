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1008" y="-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848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86868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5" name="Image 0" descr="C:\Users\laksh\AppData\Local\Temp\claude\D--claude\d0701b1d-e099-4c13-83b8-30583566951a\scratchpad\hms_ppt\icons\out\hospital_06D6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1100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488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MANAGEMENT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554480" y="3063240"/>
            <a:ext cx="90827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Role-Based, Multi-Portal Web Application for Digital Hospital Administration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907128" y="3794760"/>
            <a:ext cx="2377440" cy="0"/>
          </a:xfrm>
          <a:prstGeom prst="line">
            <a:avLst/>
          </a:prstGeom>
          <a:noFill/>
          <a:ln w="12700">
            <a:solidFill>
              <a:srgbClr val="2E7C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06908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30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[LAKSHIT </a:t>
            </a:r>
            <a:r>
              <a:rPr lang="en-US" sz="13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SUTHAR,NIRMEET MAKWANA,PRINSI TRAPASIYA  ]</a:t>
            </a:r>
            <a:r>
              <a:rPr lang="en-US" sz="1300" dirty="0">
                <a:solidFill>
                  <a:srgbClr val="5C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No.: </a:t>
            </a:r>
            <a:r>
              <a:rPr lang="en-US" sz="13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[D45,D23,D48]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407408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3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[MCA SEM-3]</a:t>
            </a:r>
            <a:r>
              <a:rPr lang="en-US" sz="1300" dirty="0">
                <a:solidFill>
                  <a:srgbClr val="5C8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</a:t>
            </a:r>
            <a:r>
              <a:rPr lang="en-US" sz="1300" b="1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[PROF. AJAY CHAUHAN</a:t>
            </a:r>
            <a:r>
              <a:rPr lang="en-US" sz="13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480060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[LJ UNIVERSITY]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5102352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[2026-2027]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14400" y="608076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FA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Django 6.1  ·  Python 3  ·  SQLite / PostgreSQL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9344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9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78408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267712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2677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22128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New System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260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78408" y="28712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3584448"/>
            <a:ext cx="347472" cy="347472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84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8408" y="35295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4242816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242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78408" y="4187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of the New System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901184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901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8408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New System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02920" y="5559552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559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8408" y="5504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02920" y="6217920"/>
            <a:ext cx="347472" cy="347472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6217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8408" y="616305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Timeline Chart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17920" y="1609344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609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93408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Users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217920" y="2267712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6153912" y="2267712"/>
            <a:ext cx="475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93408" y="22128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Determination &amp; Analysis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217920" y="2926080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5" name="Text 33"/>
          <p:cNvSpPr/>
          <p:nvPr/>
        </p:nvSpPr>
        <p:spPr>
          <a:xfrm>
            <a:off x="6185916" y="291388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93408" y="287121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217920" y="3584448"/>
            <a:ext cx="347472" cy="347472"/>
          </a:xfrm>
          <a:prstGeom prst="ellipse">
            <a:avLst/>
          </a:prstGeom>
          <a:solidFill>
            <a:srgbClr val="073B4C"/>
          </a:solidFill>
          <a:ln/>
        </p:spPr>
      </p:sp>
      <p:sp>
        <p:nvSpPr>
          <p:cNvPr id="38" name="Text 36"/>
          <p:cNvSpPr/>
          <p:nvPr/>
        </p:nvSpPr>
        <p:spPr>
          <a:xfrm>
            <a:off x="6080760" y="3584448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93408" y="352958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6217920" y="4242816"/>
            <a:ext cx="347472" cy="347472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41" name="Text 39"/>
          <p:cNvSpPr/>
          <p:nvPr/>
        </p:nvSpPr>
        <p:spPr>
          <a:xfrm>
            <a:off x="6153912" y="4242816"/>
            <a:ext cx="484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93408" y="41879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6217920" y="4901184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4901184"/>
            <a:ext cx="6217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93408" y="4846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Tables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6217920" y="5559552"/>
            <a:ext cx="347472" cy="347472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7" name="Text 45"/>
          <p:cNvSpPr/>
          <p:nvPr/>
        </p:nvSpPr>
        <p:spPr>
          <a:xfrm>
            <a:off x="6123432" y="5559552"/>
            <a:ext cx="57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93408" y="550468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8585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paper-based records: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registration, appointment slips and prescriptions are kept in physical registers or disconnected spreadsheets across departments, with no single source of truth.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scheduling: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staff book doctor time slots by hand, which frequently causes double-booking and long patient waiting times.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doctor availability: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receptionists have no way to check which doctor is free, on which date, before attempting to book.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medical history: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and past visit records are stored on paper, making them slow (or impossible) to retrieve during a follow-up visit.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communication channel: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are not proactively notified of appointment confirmation, reminders, or cancellations.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administrative overhead: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new staff, tracking department-wise patient load, and producing basic operational statistics all require manual compilation.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of the New System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8585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manual, paper-based hospital record keeping with one centralized, role-based web application.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patients to self-register, book/cancel appointments online, and view their profile &amp; history digitally.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doctors a real-time appointment queue, availability management tools, and structured prescription authoring.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receptionists with front-desk tools for walk-in registration and appointment booking — without paperwork.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hospital administrators a single dashboard for staff onboarding, analytics, and account oversight.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double-booking of doctor time slots through database-level scheduling constraints.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every login, across every role, with mandatory two-step email OTP verification.</a:t>
            </a:r>
            <a:endParaRPr lang="en-US" sz="1350" dirty="0"/>
          </a:p>
          <a:p>
            <a:pPr marL="228600" indent="-2286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four user roles through one shared, real-time in-app notification system.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Components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1892808"/>
            <a:ext cx="640080" cy="640080"/>
          </a:xfrm>
          <a:prstGeom prst="ellipse">
            <a:avLst/>
          </a:prstGeom>
          <a:solidFill>
            <a:srgbClr val="073B4C"/>
          </a:solidFill>
          <a:ln/>
        </p:spPr>
      </p:sp>
      <p:pic>
        <p:nvPicPr>
          <p:cNvPr id="6" name="Image 0" descr="C:\Users\laksh\AppData\Local\Temp\claude\D--claude\d0701b1d-e099-4c13-83b8-30583566951a\scratchpad\hms_ppt\icons\out\ke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771" y="2046427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751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authentication core — one custom User model shared by every portal (email login, role field, OTP fields).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274320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6432" y="1892808"/>
            <a:ext cx="640080" cy="64008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11" name="Image 1" descr="C:\Users\laksh\AppData\Local\Temp\claude\D--claude\d0701b1d-e099-4c13-83b8-30583566951a\scratchpad\hms_ppt\icons\out\user_patien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051" y="204642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3464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0779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website &amp; patient self-service portal — registration, profile, appointment booking, notifications.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498348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96712" y="1892808"/>
            <a:ext cx="640080" cy="64008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6" name="Image 2" descr="C:\Users\laksh\AppData\Local\Temp\claude\D--claude\d0701b1d-e099-4c13-83b8-30583566951a\scratchpad\hms_ppt\icons\out\stethoscope_073B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0331" y="2046427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492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14807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Doctor's clinical workspace — dashboard, appointment queue, prescription authoring, availability management.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722376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36992" y="1892808"/>
            <a:ext cx="640080" cy="64008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21" name="Image 3" descr="C:\Users\laksh\AppData\Local\Temp\claude\D--claude\d0701b1d-e099-4c13-83b8-30583566951a\scratchpad\hms_ppt\icons\out\user_receptionis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0611" y="2046427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8835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operations — walk-in patient registration, appointment booking/confirmation, doctor directory.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9464040" y="1600200"/>
            <a:ext cx="2066544" cy="3657600"/>
          </a:xfrm>
          <a:prstGeom prst="roundRect">
            <a:avLst>
              <a:gd name="adj" fmla="val 442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177272" y="1892808"/>
            <a:ext cx="640080" cy="640080"/>
          </a:xfrm>
          <a:prstGeom prst="ellipse">
            <a:avLst/>
          </a:prstGeom>
          <a:solidFill>
            <a:srgbClr val="0A5C6B"/>
          </a:solidFill>
          <a:ln/>
        </p:spPr>
      </p:sp>
      <p:pic>
        <p:nvPicPr>
          <p:cNvPr id="26" name="Image 4" descr="C:\Users\laksh\AppData\Local\Temp\claude\D--claude\d0701b1d-e099-4c13-83b8-30583566951a\scratchpad\hms_ppt\icons\out\user_admi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891" y="2046427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55480" y="2697480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628632" y="3108960"/>
            <a:ext cx="1737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control centre — analytics dashboard, staff onboarding, system-wide oversight, account control.</a:t>
            </a:r>
            <a:endParaRPr lang="en-US" sz="1080" dirty="0"/>
          </a:p>
        </p:txBody>
      </p:sp>
      <p:sp>
        <p:nvSpPr>
          <p:cNvPr id="29" name="Text 22"/>
          <p:cNvSpPr/>
          <p:nvPr/>
        </p:nvSpPr>
        <p:spPr>
          <a:xfrm>
            <a:off x="502920" y="5486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component: a single Notification model, fed via a per-app context processor, powers a live notification bell across all four portals.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Profile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5855" cy="467258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4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Management System (HMS)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Web-Based Application — Healthcare / Hospital Administration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HTML5, CSS3, JavaScript (server-rendered, per-page stylesheets)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3, Django 6.1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(development)  /  PostgreSQL (production-ready)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Libraries /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Pillow, WhiteNoise, python-decouple, Gunicorn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Server-rendered monolith (no REST API / SPA framework)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[Your 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Enrollment 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[Enrollment / Roll No.]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[Course &amp; Semester]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[Guide 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[College / Institute Name]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[Academic Year]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of the New 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patient, doctor and appointment data instead of scattered paper registers.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1" name="Image 1" descr="C:\Users\laksh\AppData\Local\Temp\claude\D--claude\d0701b1d-e099-4c13-83b8-30583566951a\scratchpad\hms_ppt\icons\out\globe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book and track appointments anytime, without visiting or calling the hospital.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0956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830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6" name="Image 2" descr="C:\Users\laksh\AppData\Local\Temp\claude\D--claude\d0701b1d-e099-4c13-83b8-30583566951a\scratchpad\hms_ppt\icons\out\check_circ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3816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Database-enforced constraints prevent double-booked time slots — a common manual scheduling error.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21" name="Image 3" descr="C:\Users\laksh\AppData\Local\Temp\claude\D--claude\d0701b1d-e099-4c13-83b8-30583566951a\scratchpad\hms_ppt\icons\out\bol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Front-desk staff register walk-ins and book appointments in seconds instead of manual filing.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0624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6" name="Image 4" descr="C:\Users\laksh\AppData\Local\Temp\claude\D--claude\d0701b1d-e099-4c13-83b8-30583566951a\scratchpad\hms_ppt\icons\out\shield_check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514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3484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account, across every role, is protected by two-step email OTP verification.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0956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02336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31" name="Image 5" descr="C:\Users\laksh\AppData\Local\Temp\claude\D--claude\d0701b1d-e099-4c13-83b8-30583566951a\scratchpad\hms_ppt\icons\out\chart_ba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834" y="41550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3816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get a real-time, data-backed view of hospital activity instead of periodic manual reports.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New 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Scope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5B6F75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(Current Version)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4 user types: Patient, Doctor, Receptionist, Admin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self-registration with email OTP verification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booking, confirmation, cancellation &amp; conflict-free scheduling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availability &amp; blocked-date management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prescription authoring with multi-medicine entries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notifications across all portals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 &amp; staff onboarding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marketing site: About, Services, Departments, Doctor Directory, Contact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/ billing integration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 processing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/ diagnostic report management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inventory management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application (Android / iOS)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consultation / telemedicine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SMS-based notifications (email only, in current version)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 of the Proposed System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duplicate / lost patient records via centralized digital storage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appointment double-booking through DB-level unique constraints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receptionist workload with self-service patient booking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two-step email OTP login secures every role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give management instant operational visibility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technology — cost-effective to run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Forgot-password flow is UI-only — no backend reset logic implemented yet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file-storage backend yet for uploaded images (needs e.g. S3)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payment / billing module in the current scope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test suite exists in the repository at this time</a:t>
            </a:r>
            <a:endParaRPr lang="en-US" sz="1280" dirty="0"/>
          </a:p>
          <a:p>
            <a:pPr marL="0" indent="0">
              <a:buNone/>
            </a:pPr>
            <a:r>
              <a:rPr lang="en-US" sz="128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</a:t>
            </a:r>
            <a:r>
              <a:rPr lang="en-US" sz="12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limited to email &amp; in-app alerts — no SMS/push channel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Timeline Chart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703320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703320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01866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01866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0411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00411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8957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98957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97502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97502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96048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96048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4593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94593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3139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293139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91684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091684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90230" y="1188720"/>
            <a:ext cx="79854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890230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88775" y="1444752"/>
            <a:ext cx="914" cy="4526280"/>
          </a:xfrm>
          <a:prstGeom prst="line">
            <a:avLst/>
          </a:prstGeom>
          <a:noFill/>
          <a:ln w="9525">
            <a:solidFill>
              <a:srgbClr val="E9EF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1481328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148132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Analysis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03320" y="1531620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193395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(Architecture, ERD, UI)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01866" y="1984248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73B4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2386584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238658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Setup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300411" y="2436876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6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283921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Patient Portal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98957" y="2889504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291840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329184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Doctor Portal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97502" y="3342132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73B4C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744468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Receptionist Portal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696048" y="3794760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6D6A0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197096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197096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Dev. — Admin Portal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494593" y="4247388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649724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OTP Integration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293139" y="4700016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073B4C"/>
          </a:solidFill>
          <a:ln/>
        </p:spPr>
      </p:sp>
      <p:sp>
        <p:nvSpPr>
          <p:cNvPr id="45" name="Shape 43"/>
          <p:cNvSpPr/>
          <p:nvPr/>
        </p:nvSpPr>
        <p:spPr>
          <a:xfrm>
            <a:off x="502920" y="5102352"/>
            <a:ext cx="11185855" cy="402336"/>
          </a:xfrm>
          <a:prstGeom prst="rect">
            <a:avLst/>
          </a:prstGeom>
          <a:solidFill>
            <a:srgbClr val="EFF5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5102352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Bug Fixing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091684" y="5152644"/>
            <a:ext cx="798546" cy="301752"/>
          </a:xfrm>
          <a:prstGeom prst="roundRect">
            <a:avLst>
              <a:gd name="adj" fmla="val 15152"/>
            </a:avLst>
          </a:prstGeom>
          <a:solidFill>
            <a:srgbClr val="EF476F"/>
          </a:solidFill>
          <a:ln/>
        </p:spPr>
      </p:sp>
      <p:sp>
        <p:nvSpPr>
          <p:cNvPr id="48" name="Text 46"/>
          <p:cNvSpPr/>
          <p:nvPr/>
        </p:nvSpPr>
        <p:spPr>
          <a:xfrm>
            <a:off x="594360" y="5554980"/>
            <a:ext cx="2971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Documentation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0890230" y="5605272"/>
            <a:ext cx="479127" cy="301752"/>
          </a:xfrm>
          <a:prstGeom prst="roundRect">
            <a:avLst>
              <a:gd name="adj" fmla="val 15152"/>
            </a:avLst>
          </a:prstGeom>
          <a:solidFill>
            <a:srgbClr val="118AB2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6144768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~10-week SDLC schedule (Waterfall-style phases with slight overlap for iterative refinement).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Targeted Users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764792"/>
            <a:ext cx="658368" cy="658368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user_patien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96" y="192280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66160" y="1645920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appointments, manage own profile &amp; medical info, track appointment status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01000" y="1645920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site, self-registration, booking, notifications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779776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04088" y="2990088"/>
            <a:ext cx="658368" cy="658368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2" name="Image 1" descr="C:\Users\laksh\AppData\Local\Temp\claude\D--claude\d0701b1d-e099-4c13-83b8-30583566951a\scratchpad\hms_ppt\icons\out\user_doctor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96" y="314809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871216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2871216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daily appointment queue, author prescriptions, control own availability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001000" y="2871216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appointment queue, prescriptions, schedule editor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4005072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4088" y="4215384"/>
            <a:ext cx="658368" cy="658368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8" name="Image 2" descr="C:\Users\laksh\AppData\Local\Temp\claude\D--claude\d0701b1d-e099-4c13-83b8-30583566951a\scratchpad\hms_ppt\icons\out\user_receptionis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96" y="4373392"/>
            <a:ext cx="342351" cy="3423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54480" y="409651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3566160" y="4096512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walk-in patients quickly, book on a patient’s behalf, check doctor availability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001000" y="4096512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registration, booking/confirmation, doctor directory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5230368"/>
            <a:ext cx="11185855" cy="1078992"/>
          </a:xfrm>
          <a:prstGeom prst="roundRect">
            <a:avLst>
              <a:gd name="adj" fmla="val 7627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4088" y="5440680"/>
            <a:ext cx="658368" cy="658368"/>
          </a:xfrm>
          <a:prstGeom prst="ellipse">
            <a:avLst/>
          </a:prstGeom>
          <a:solidFill>
            <a:srgbClr val="0A5C6B"/>
          </a:solidFill>
          <a:ln/>
        </p:spPr>
      </p:sp>
      <p:pic>
        <p:nvPicPr>
          <p:cNvPr id="24" name="Image 3" descr="C:\Users\laksh\AppData\Local\Temp\claude\D--claude\d0701b1d-e099-4c13-83b8-30583566951a\scratchpad\hms_ppt\icons\out\user_adm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96" y="5598688"/>
            <a:ext cx="342351" cy="34235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54480" y="532180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566160" y="5321808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 hospital-wide operations, onboard staff, control account access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001000" y="5321808"/>
            <a:ext cx="350489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 </a:t>
            </a: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dashboard, staff onboarding, account status control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clipboard_lis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Determination &amp; Analysis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stakeholder needs and translating them into concrete, testable system requirements.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Determination and Analysis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1118585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precisely understand what patients, doctors, receptionists and hospital administrators actually need, before any design or coding begins.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Determination: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fact-finding stage — gathering raw information about existing (manual) workflows, pain points, and stakeholder expectations.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and refining the gathered facts into a consistent, non-conflicting picture of what the new system must do.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documenting the analyzed requirements as functional and non-functional requirements that guide design and testing.</a:t>
            </a:r>
            <a:endParaRPr lang="en-US" sz="1350" dirty="0"/>
          </a:p>
          <a:p>
            <a:pPr marL="228600" indent="-228600">
              <a:lnSpc>
                <a:spcPct val="108000"/>
              </a:lnSpc>
              <a:buSzPct val="100000"/>
              <a:buChar char="▪"/>
            </a:pPr>
            <a:r>
              <a:rPr lang="en-US" sz="13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 </a:t>
            </a: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agreed scope (see Scope of the New System) and a testable requirement list that the delivered HMS application is measured against.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Determination — Techniques Used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handshak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 with front-desk staff and doctors to understand day-to-day scheduling and record-keeping pain points.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1" name="Image 1" descr="C:\Users\laksh\AppData\Local\Temp\claude\D--claude\d0701b1d-e099-4c13-83b8-30583566951a\scratchpad\hms_ppt\icons\out\file_medical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Review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paper registers, appointment slips, and prescription formats used at the front desk.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0956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830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6" name="Image 2" descr="C:\Users\laksh\AppData\Local\Temp\claude\D--claude\d0701b1d-e099-4c13-83b8-30583566951a\scratchpad\hms_ppt\icons\out\window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3816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the manual patient registration and appointment booking workflow in practice.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21" name="Image 3" descr="C:\Users\laksh\AppData\Local\Temp\claude\D--claude\d0701b1d-e099-4c13-83b8-30583566951a\scratchpad\hms_ppt\icons\out\list_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questions to patients about preferred booking channels and communication (email vs. SMS).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0624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6" name="Image 4" descr="C:\Users\laksh\AppData\Local\Temp\claude\D--claude\d0701b1d-e099-4c13-83b8-30583566951a\scratchpad\hms_ppt\icons\out\globe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514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Study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3484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comparable hospital management systems for standard, expected features.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0956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02336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31" name="Image 5" descr="C:\Users\laksh\AppData\Local\Temp\claude\D--claude\d0701b1d-e099-4c13-83b8-30583566951a\scratchpad\hms_ppt\icons\out\lightbulb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834" y="41550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3816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sessions to translate raw findings into a prioritized, feasible feature list for this project.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I</a:t>
            </a:r>
            <a:endParaRPr lang="en-US" sz="2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44577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visitor to self-register as a patient with email OTP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secure login for all roles via two-step email OTP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patient to view and edit their profile &amp; medical information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patient to book an appointment by department, doctor, date &amp; time slot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booking of an already-taken time slot for the same 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patient to view and cancel their own upcoming appointments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 a patient of appointment confirmation, cancellation or reminder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the doctor's today's appointment queue on a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mark an appointment complete or cancel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view the medical history of their own patients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author a prescription with multiple medicine entries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doctor to configure weekly availability &amp; block unavailable 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 — II</a:t>
            </a:r>
            <a:endParaRPr lang="en-US" sz="2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384048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receptionist to register a walk-in patient without OTP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receptionist to book, confirm or cancel appointments on a patient's behalf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 receptionist to view doctor availability before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an administrator to onboard new doctor and receptionist accounts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system-wide analytics: patient/doctor/appointment counts, revenue, department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an administrator to activate or deactivate any non-admin user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an administrator to view all patients and appointments system-wide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 a real-time notification bell (list, mark-all-read, dismiss) in every portal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role-based redirection to the correct portal dashboard after 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SPECIFICATION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6" name="Image 0" descr="C:\Users\laksh\AppData\Local\Temp\claude\D--claude\d0701b1d-e099-4c13-83b8-30583566951a\scratchpad\hms_ppt\icons\out\shield_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control, mandatory two-step email OTP login, and Django CSRF protection on every form.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20624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8308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11" name="Image 1" descr="C:\Users\laksh\AppData\Local\Temp\claude\D--claude\d0701b1d-e099-4c13-83b8-30583566951a\scratchpad\hms_ppt\icons\out\bolt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51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3484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lookups and dashboard statistics return promptly at single-hospital deployment scale.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909560" y="155448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17830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16" name="Image 2" descr="C:\Users\laksh\AppData\Local\Temp\claude\D--claude\d0701b1d-e099-4c13-83b8-30583566951a\scratchpad\hms_ppt\icons\out\window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983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138160" y="242316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portal keeps a consistent sidebar/topbar layout with its own accent colour for quick role recognition.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0292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21" name="Image 3" descr="C:\Users\laksh\AppData\Local\Temp\claude\D--claude\d0701b1d-e099-4c13-83b8-30583566951a\scratchpad\hms_ppt\icons\out\check_circl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database constraints prevent data-integrity issues such as double-booked appointment slots.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20624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34840" y="4023360"/>
            <a:ext cx="548640" cy="548640"/>
          </a:xfrm>
          <a:prstGeom prst="ellipse">
            <a:avLst/>
          </a:prstGeom>
          <a:solidFill>
            <a:srgbClr val="06D6A0"/>
          </a:solidFill>
          <a:ln/>
        </p:spPr>
      </p:sp>
      <p:pic>
        <p:nvPicPr>
          <p:cNvPr id="26" name="Image 4" descr="C:\Users\laksh\AppData\Local\Temp\claude\D--claude\d0701b1d-e099-4c13-83b8-30583566951a\scratchpad\hms_ppt\icons\out\puzzle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6514" y="41550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3484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Django app structure — one app per portal/concern — with shared static-file &amp; template conventions.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7909560" y="379476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02336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pic>
        <p:nvPicPr>
          <p:cNvPr id="31" name="Image 5" descr="C:\Users\laksh\AppData\Local\Temp\claude\D--claude\d0701b1d-e099-4c13-83b8-30583566951a\scratchpad\hms_ppt\icons\out\glob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834" y="41550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95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138160" y="46634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configuration lets the same codebase run on SQLite locally and PostgreSQL in production.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lay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requirements to architecture: layers, technology choices, and module structure.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Overview — Three-Tier Design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118AB2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71907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08483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Templates + CSS/JS  —  4 portal-specific UIs (Patient, Doctor, Receptionist, Admin)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2560320"/>
            <a:ext cx="18288" cy="502920"/>
          </a:xfrm>
          <a:prstGeom prst="line">
            <a:avLst/>
          </a:prstGeom>
          <a:noFill/>
          <a:ln w="22225">
            <a:solidFill>
              <a:srgbClr val="76898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4400" y="306324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073B4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18211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Business Logic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54787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Views  —  URL routing, role-based decorators, OTP &amp; booking business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4023360"/>
            <a:ext cx="18288" cy="502920"/>
          </a:xfrm>
          <a:prstGeom prst="line">
            <a:avLst/>
          </a:prstGeom>
          <a:noFill/>
          <a:ln w="22225">
            <a:solidFill>
              <a:srgbClr val="76898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4526280"/>
            <a:ext cx="7589520" cy="960120"/>
          </a:xfrm>
          <a:prstGeom prst="roundRect">
            <a:avLst>
              <a:gd name="adj" fmla="val 9524"/>
            </a:avLst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64515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5010912"/>
            <a:ext cx="7040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 over SQLite (dev) / PostgreSQL (prod)  —  11 tables across 3 apps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06840" y="2880360"/>
            <a:ext cx="23317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18A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16668" y="3026664"/>
            <a:ext cx="512064" cy="512064"/>
          </a:xfrm>
          <a:prstGeom prst="ellipse">
            <a:avLst/>
          </a:prstGeom>
          <a:solidFill>
            <a:srgbClr val="118AB2"/>
          </a:solidFill>
          <a:ln/>
        </p:spPr>
      </p:sp>
      <p:pic>
        <p:nvPicPr>
          <p:cNvPr id="17" name="Image 0" descr="C:\Users\laksh\AppData\Local\Temp\claude\D--claude\d0701b1d-e099-4c13-83b8-30583566951a\scratchpad\hms_ppt\icons\out\envelop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563" y="3149559"/>
            <a:ext cx="266273" cy="26627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098280" y="359359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Service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098280" y="38496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via Gmail — OTP delivery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 flipV="1">
            <a:off x="8503920" y="3520440"/>
            <a:ext cx="502920" cy="18288"/>
          </a:xfrm>
          <a:prstGeom prst="line">
            <a:avLst/>
          </a:prstGeom>
          <a:noFill/>
          <a:ln w="19050">
            <a:solidFill>
              <a:srgbClr val="118AB2"/>
            </a:solidFill>
            <a:prstDash val="dash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502920" y="589788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8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top-down; the Application layer also triggers outbound OTP email delivery independently of the data layer.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2728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C:\Users\laksh\AppData\Local\Temp\claude\D--claude\d0701b1d-e099-4c13-83b8-30583566951a\scratchpad\hms_ppt\icons\out\python_073B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80" y="1941820"/>
            <a:ext cx="304312" cy="3043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52728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6072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24912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C:\Users\laksh\AppData\Local\Temp\claude\D--claude\d0701b1d-e099-4c13-83b8-30583566951a\scratchpad\hms_ppt\icons\out\django_073B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5172" y="1941820"/>
            <a:ext cx="304312" cy="3043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74720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98064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6.1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798064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946904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96712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C:\Users\laksh\AppData\Local\Temp\claude\D--claude\d0701b1d-e099-4c13-83b8-30583566951a\scratchpad\hms_ppt\icons\out\html5_073B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7164" y="1941820"/>
            <a:ext cx="304312" cy="3043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696712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0056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0056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168896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918704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C:\Users\laksh\AppData\Local\Temp\claude\D--claude\d0701b1d-e099-4c13-83b8-30583566951a\scratchpad\hms_ppt\icons\out\css3_073B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156" y="1941820"/>
            <a:ext cx="304312" cy="30431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918704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242048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242048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9390888" y="160020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140696" y="180136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C:\Users\laksh\AppData\Local\Temp\claude\D--claude\d0701b1d-e099-4c13-83b8-30583566951a\scratchpad\hms_ppt\icons\out\js_073B4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1148" y="1941820"/>
            <a:ext cx="304312" cy="30431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0140696" y="180136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464040" y="251460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464040" y="283464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interactivity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502920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252728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C:\Users\laksh\AppData\Local\Temp\claude\D--claude\d0701b1d-e099-4c13-83b8-30583566951a\scratchpad\hms_ppt\icons\out\sqlite_073B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3180" y="3862060"/>
            <a:ext cx="304312" cy="304312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1252728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76072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76072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 database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2724912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474720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6" descr="C:\Users\laksh\AppData\Local\Temp\claude\D--claude\d0701b1d-e099-4c13-83b8-30583566951a\scratchpad\hms_ppt\icons\out\postgresql_073B4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5172" y="3862060"/>
            <a:ext cx="304312" cy="304312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3474720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2798064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2798064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Prod. database</a:t>
            </a:r>
            <a:endParaRPr lang="en-US" sz="950" dirty="0"/>
          </a:p>
        </p:txBody>
      </p:sp>
      <p:sp>
        <p:nvSpPr>
          <p:cNvPr id="46" name="Shape 37"/>
          <p:cNvSpPr/>
          <p:nvPr/>
        </p:nvSpPr>
        <p:spPr>
          <a:xfrm>
            <a:off x="4946904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5696712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7" descr="C:\Users\laksh\AppData\Local\Temp\claude\D--claude\d0701b1d-e099-4c13-83b8-30583566951a\scratchpad\hms_ppt\icons\out\gunicorn_073B4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164" y="3862060"/>
            <a:ext cx="304312" cy="304312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5696712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5020056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</a:t>
            </a:r>
            <a:endParaRPr lang="en-US" sz="1200" dirty="0"/>
          </a:p>
        </p:txBody>
      </p:sp>
      <p:sp>
        <p:nvSpPr>
          <p:cNvPr id="51" name="Text 41"/>
          <p:cNvSpPr/>
          <p:nvPr/>
        </p:nvSpPr>
        <p:spPr>
          <a:xfrm>
            <a:off x="5020056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server</a:t>
            </a:r>
            <a:endParaRPr lang="en-US" sz="950" dirty="0"/>
          </a:p>
        </p:txBody>
      </p:sp>
      <p:sp>
        <p:nvSpPr>
          <p:cNvPr id="52" name="Shape 42"/>
          <p:cNvSpPr/>
          <p:nvPr/>
        </p:nvSpPr>
        <p:spPr>
          <a:xfrm>
            <a:off x="7168896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7918704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8" descr="C:\Users\laksh\AppData\Local\Temp\claude\D--claude\d0701b1d-e099-4c13-83b8-30583566951a\scratchpad\hms_ppt\icons\out\render_073B4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9156" y="3862060"/>
            <a:ext cx="304312" cy="304312"/>
          </a:xfrm>
          <a:prstGeom prst="rect">
            <a:avLst/>
          </a:prstGeom>
        </p:spPr>
      </p:pic>
      <p:sp>
        <p:nvSpPr>
          <p:cNvPr id="55" name="Shape 44"/>
          <p:cNvSpPr/>
          <p:nvPr/>
        </p:nvSpPr>
        <p:spPr>
          <a:xfrm>
            <a:off x="7918704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56" name="Text 45"/>
          <p:cNvSpPr/>
          <p:nvPr/>
        </p:nvSpPr>
        <p:spPr>
          <a:xfrm>
            <a:off x="7242048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200" dirty="0"/>
          </a:p>
        </p:txBody>
      </p:sp>
      <p:sp>
        <p:nvSpPr>
          <p:cNvPr id="57" name="Text 46"/>
          <p:cNvSpPr/>
          <p:nvPr/>
        </p:nvSpPr>
        <p:spPr>
          <a:xfrm>
            <a:off x="7242048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platform</a:t>
            </a:r>
            <a:endParaRPr lang="en-US" sz="950" dirty="0"/>
          </a:p>
        </p:txBody>
      </p:sp>
      <p:sp>
        <p:nvSpPr>
          <p:cNvPr id="58" name="Shape 47"/>
          <p:cNvSpPr/>
          <p:nvPr/>
        </p:nvSpPr>
        <p:spPr>
          <a:xfrm>
            <a:off x="9390888" y="3520440"/>
            <a:ext cx="2084832" cy="1691640"/>
          </a:xfrm>
          <a:prstGeom prst="roundRect">
            <a:avLst>
              <a:gd name="adj" fmla="val 4865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10140696" y="3721608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0" name="Image 9" descr="C:\Users\laksh\AppData\Local\Temp\claude\D--claude\d0701b1d-e099-4c13-83b8-30583566951a\scratchpad\hms_ppt\icons\out\lock_073B4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81148" y="3862060"/>
            <a:ext cx="304312" cy="304312"/>
          </a:xfrm>
          <a:prstGeom prst="rect">
            <a:avLst/>
          </a:prstGeom>
        </p:spPr>
      </p:pic>
      <p:sp>
        <p:nvSpPr>
          <p:cNvPr id="61" name="Shape 49"/>
          <p:cNvSpPr/>
          <p:nvPr/>
        </p:nvSpPr>
        <p:spPr>
          <a:xfrm>
            <a:off x="10140696" y="3721608"/>
            <a:ext cx="585216" cy="585216"/>
          </a:xfrm>
          <a:prstGeom prst="ellipse">
            <a:avLst/>
          </a:prstGeom>
          <a:ln w="12700">
            <a:solidFill>
              <a:srgbClr val="D7E3E5"/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9464040" y="4434840"/>
            <a:ext cx="19385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python-decouple</a:t>
            </a:r>
            <a:endParaRPr lang="en-US" sz="1200" dirty="0"/>
          </a:p>
        </p:txBody>
      </p:sp>
      <p:sp>
        <p:nvSpPr>
          <p:cNvPr id="63" name="Text 51"/>
          <p:cNvSpPr/>
          <p:nvPr/>
        </p:nvSpPr>
        <p:spPr>
          <a:xfrm>
            <a:off x="9464040" y="4754880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/ secrets (.env)</a:t>
            </a:r>
            <a:endParaRPr lang="en-US" sz="950" dirty="0"/>
          </a:p>
        </p:txBody>
      </p:sp>
      <p:sp>
        <p:nvSpPr>
          <p:cNvPr id="64" name="Text 52"/>
          <p:cNvSpPr/>
          <p:nvPr/>
        </p:nvSpPr>
        <p:spPr>
          <a:xfrm>
            <a:off x="502920" y="54864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Additional: Pillow (image handling for profile pictures) · WhiteNoise (compressed static-file serving)</a:t>
            </a:r>
            <a:endParaRPr lang="en-US" sz="1100" dirty="0"/>
          </a:p>
        </p:txBody>
      </p:sp>
      <p:sp>
        <p:nvSpPr>
          <p:cNvPr id="65" name="Text 5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6" name="Text 5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/ App Structure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449928" y="1554480"/>
            <a:ext cx="3291840" cy="777240"/>
          </a:xfrm>
          <a:prstGeom prst="roundRect">
            <a:avLst>
              <a:gd name="adj" fmla="val 11765"/>
            </a:avLst>
          </a:prstGeom>
          <a:solidFill>
            <a:srgbClr val="0B2934"/>
          </a:solidFill>
          <a:ln/>
        </p:spPr>
      </p:sp>
      <p:sp>
        <p:nvSpPr>
          <p:cNvPr id="5" name="Text 3"/>
          <p:cNvSpPr/>
          <p:nvPr/>
        </p:nvSpPr>
        <p:spPr>
          <a:xfrm>
            <a:off x="4449928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 (Project)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49928" y="19751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 · urls.py · wsgi.py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V="1">
            <a:off x="1560424" y="2331720"/>
            <a:ext cx="4535424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008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73B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008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10" name="Shape 8"/>
          <p:cNvSpPr/>
          <p:nvPr/>
        </p:nvSpPr>
        <p:spPr>
          <a:xfrm>
            <a:off x="518008" y="3300984"/>
            <a:ext cx="2084832" cy="192024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11" name="Text 9"/>
          <p:cNvSpPr/>
          <p:nvPr/>
        </p:nvSpPr>
        <p:spPr>
          <a:xfrm>
            <a:off x="518008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448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URLs (model only)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V="1">
            <a:off x="3828136" y="2331720"/>
            <a:ext cx="2267712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5720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18A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5720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85720" y="3300984"/>
            <a:ext cx="2084832" cy="192024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2785720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77160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95848" y="2331720"/>
            <a:ext cx="18288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53432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53432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22" name="Shape 20"/>
          <p:cNvSpPr/>
          <p:nvPr/>
        </p:nvSpPr>
        <p:spPr>
          <a:xfrm>
            <a:off x="5053432" y="3300984"/>
            <a:ext cx="2084832" cy="19202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5053432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44872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/doctor/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95848" y="2331720"/>
            <a:ext cx="2267712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21144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21144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EF476F"/>
          </a:solidFill>
          <a:ln/>
        </p:spPr>
      </p:sp>
      <p:sp>
        <p:nvSpPr>
          <p:cNvPr id="28" name="Shape 26"/>
          <p:cNvSpPr/>
          <p:nvPr/>
        </p:nvSpPr>
        <p:spPr>
          <a:xfrm>
            <a:off x="7321144" y="3300984"/>
            <a:ext cx="2084832" cy="19202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9" name="Text 27"/>
          <p:cNvSpPr/>
          <p:nvPr/>
        </p:nvSpPr>
        <p:spPr>
          <a:xfrm>
            <a:off x="7321144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12584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/receptionist/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95848" y="2331720"/>
            <a:ext cx="4535424" cy="777240"/>
          </a:xfrm>
          <a:prstGeom prst="line">
            <a:avLst/>
          </a:prstGeom>
          <a:noFill/>
          <a:ln w="19050">
            <a:solidFill>
              <a:srgbClr val="7689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88856" y="3108960"/>
            <a:ext cx="20848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A5C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88856" y="3108960"/>
            <a:ext cx="2084832" cy="384048"/>
          </a:xfrm>
          <a:prstGeom prst="roundRect">
            <a:avLst>
              <a:gd name="adj" fmla="val 21429"/>
            </a:avLst>
          </a:prstGeom>
          <a:solidFill>
            <a:srgbClr val="0A5C6B"/>
          </a:solidFill>
          <a:ln/>
        </p:spPr>
      </p:sp>
      <p:sp>
        <p:nvSpPr>
          <p:cNvPr id="34" name="Shape 32"/>
          <p:cNvSpPr/>
          <p:nvPr/>
        </p:nvSpPr>
        <p:spPr>
          <a:xfrm>
            <a:off x="9588856" y="3300984"/>
            <a:ext cx="2084832" cy="192024"/>
          </a:xfrm>
          <a:prstGeom prst="rect">
            <a:avLst/>
          </a:prstGeom>
          <a:solidFill>
            <a:srgbClr val="0A5C6B"/>
          </a:solidFill>
          <a:ln/>
        </p:spPr>
      </p:sp>
      <p:sp>
        <p:nvSpPr>
          <p:cNvPr id="35" name="Text 33"/>
          <p:cNvSpPr/>
          <p:nvPr/>
        </p:nvSpPr>
        <p:spPr>
          <a:xfrm>
            <a:off x="9588856" y="3108960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adminpanel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80296" y="361188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 /adminpanel/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484632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contributes only the shared User model; patient owns the public site + auth/OTP flow since it is the site’s entry point.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window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how each actor interacts with the Hospital Management System.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— All Actors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246120" y="1417320"/>
            <a:ext cx="576072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5875">
            <a:solidFill>
              <a:srgbClr val="118A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246120" y="15087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Hospital Management System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749040" y="1586484"/>
            <a:ext cx="4754880" cy="621792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 OTP)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2336292"/>
            <a:ext cx="4754880" cy="621792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3086100"/>
            <a:ext cx="4754880" cy="621792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3835908"/>
            <a:ext cx="4754880" cy="621792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4585716"/>
            <a:ext cx="4754880" cy="621792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5335524"/>
            <a:ext cx="4754880" cy="621792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" y="160020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8A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" y="1874520"/>
            <a:ext cx="914" cy="502920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057400"/>
            <a:ext cx="594360" cy="914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502920" y="2377440"/>
            <a:ext cx="297180" cy="320040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2377440"/>
            <a:ext cx="297180" cy="320040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275234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97280" y="2057400"/>
            <a:ext cx="2148840" cy="18288"/>
          </a:xfrm>
          <a:prstGeom prst="line">
            <a:avLst/>
          </a:prstGeom>
          <a:noFill/>
          <a:ln w="19050">
            <a:solidFill>
              <a:srgbClr val="118A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38460" y="160020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75620" y="1874520"/>
            <a:ext cx="914" cy="502920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2057400"/>
            <a:ext cx="594360" cy="914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378440" y="2377440"/>
            <a:ext cx="297180" cy="320040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75620" y="2377440"/>
            <a:ext cx="297180" cy="320040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275234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06840" y="2057400"/>
            <a:ext cx="1371600" cy="18288"/>
          </a:xfrm>
          <a:prstGeom prst="line">
            <a:avLst/>
          </a:prstGeom>
          <a:noFill/>
          <a:ln w="19050">
            <a:solidFill>
              <a:srgbClr val="EF476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940" y="44348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" y="4709160"/>
            <a:ext cx="914" cy="50292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892040"/>
            <a:ext cx="594360" cy="914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02920" y="5212080"/>
            <a:ext cx="297180" cy="32004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" y="5212080"/>
            <a:ext cx="297180" cy="32004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558698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97280" y="4892040"/>
            <a:ext cx="2148840" cy="18288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38460" y="443484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5C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75620" y="4709160"/>
            <a:ext cx="914" cy="502920"/>
          </a:xfrm>
          <a:prstGeom prst="line">
            <a:avLst/>
          </a:prstGeom>
          <a:noFill/>
          <a:ln w="25400">
            <a:solidFill>
              <a:srgbClr val="0A5C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78440" y="4892040"/>
            <a:ext cx="594360" cy="914"/>
          </a:xfrm>
          <a:prstGeom prst="line">
            <a:avLst/>
          </a:prstGeom>
          <a:noFill/>
          <a:ln w="25400">
            <a:solidFill>
              <a:srgbClr val="0A5C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0378440" y="5212080"/>
            <a:ext cx="297180" cy="320040"/>
          </a:xfrm>
          <a:prstGeom prst="line">
            <a:avLst/>
          </a:prstGeom>
          <a:noFill/>
          <a:ln w="25400">
            <a:solidFill>
              <a:srgbClr val="0A5C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675620" y="5212080"/>
            <a:ext cx="297180" cy="320040"/>
          </a:xfrm>
          <a:prstGeom prst="line">
            <a:avLst/>
          </a:prstGeom>
          <a:noFill/>
          <a:ln w="25400">
            <a:solidFill>
              <a:srgbClr val="0A5C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58400" y="558698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06840" y="4892040"/>
            <a:ext cx="1371600" cy="18288"/>
          </a:xfrm>
          <a:prstGeom prst="line">
            <a:avLst/>
          </a:prstGeom>
          <a:noFill/>
          <a:ln w="19050">
            <a:solidFill>
              <a:srgbClr val="0A5C6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Actor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977640" y="1417320"/>
            <a:ext cx="73152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5875">
            <a:solidFill>
              <a:srgbClr val="118A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977640" y="1490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Hospital Management System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37260" y="31318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8A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" y="3406140"/>
            <a:ext cx="914" cy="502920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589020"/>
            <a:ext cx="594360" cy="914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77240" y="3909060"/>
            <a:ext cx="297180" cy="320040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4420" y="3909060"/>
            <a:ext cx="297180" cy="320040"/>
          </a:xfrm>
          <a:prstGeom prst="line">
            <a:avLst/>
          </a:prstGeom>
          <a:noFill/>
          <a:ln w="25400">
            <a:solidFill>
              <a:srgbClr val="118A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8396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flipV="1">
            <a:off x="1371600" y="1723644"/>
            <a:ext cx="3429000" cy="1865376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40180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(Email OTP)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flipV="1">
            <a:off x="1371600" y="2436876"/>
            <a:ext cx="3429000" cy="1152144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53412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Verify OTP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371600" y="3150108"/>
            <a:ext cx="3429000" cy="438912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66644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Edit Profile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71600" y="3589020"/>
            <a:ext cx="3429000" cy="274320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579876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371600" y="3589020"/>
            <a:ext cx="3429000" cy="987552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293108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My Appointments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71600" y="3589020"/>
            <a:ext cx="3429000" cy="1700784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5006340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Appointment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71600" y="3589020"/>
            <a:ext cx="3429000" cy="2414016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5719572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118AB2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Notifications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 Actor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977640" y="1417320"/>
            <a:ext cx="73152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5875">
            <a:solidFill>
              <a:srgbClr val="118A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977640" y="1490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Hospital Management System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37260" y="31318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" y="3406140"/>
            <a:ext cx="914" cy="50292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589020"/>
            <a:ext cx="594360" cy="914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77240" y="3909060"/>
            <a:ext cx="297180" cy="32004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4420" y="3909060"/>
            <a:ext cx="297180" cy="32004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8396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flipV="1">
            <a:off x="1371600" y="1723644"/>
            <a:ext cx="3429000" cy="1865376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40180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6D6A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flipV="1">
            <a:off x="1371600" y="2436876"/>
            <a:ext cx="3429000" cy="1152144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53412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6D6A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Appointment Queue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371600" y="3150108"/>
            <a:ext cx="3429000" cy="438912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66644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6D6A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Appointment Complete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71600" y="3589020"/>
            <a:ext cx="3429000" cy="274320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579876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6D6A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Details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371600" y="3589020"/>
            <a:ext cx="3429000" cy="987552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293108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6D6A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Prescription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71600" y="3589020"/>
            <a:ext cx="3429000" cy="1700784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5006340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6D6A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Availability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71600" y="3589020"/>
            <a:ext cx="3429000" cy="2414016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5719572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6D6A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Receptionist Actor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977640" y="1417320"/>
            <a:ext cx="73152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5875">
            <a:solidFill>
              <a:srgbClr val="118A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977640" y="1490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Hospital Management System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37260" y="31318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" y="3406140"/>
            <a:ext cx="914" cy="502920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589020"/>
            <a:ext cx="594360" cy="914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77240" y="3909060"/>
            <a:ext cx="297180" cy="320040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4420" y="3909060"/>
            <a:ext cx="297180" cy="320040"/>
          </a:xfrm>
          <a:prstGeom prst="line">
            <a:avLst/>
          </a:prstGeom>
          <a:noFill/>
          <a:ln w="254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8396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flipV="1">
            <a:off x="1371600" y="1723644"/>
            <a:ext cx="3429000" cy="1865376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40180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EF476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Walk-in Patient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flipV="1">
            <a:off x="1371600" y="2436876"/>
            <a:ext cx="3429000" cy="1152144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53412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EF476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View Patients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371600" y="3150108"/>
            <a:ext cx="3429000" cy="438912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66644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EF476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 (for Patient)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71600" y="3589020"/>
            <a:ext cx="3429000" cy="274320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579876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EF476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Appointment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371600" y="3589020"/>
            <a:ext cx="3429000" cy="987552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293108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EF476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Appointment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71600" y="3589020"/>
            <a:ext cx="3429000" cy="1700784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5006340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EF476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Doctor Directory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71600" y="3589020"/>
            <a:ext cx="3429000" cy="2414016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5719572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EF476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Actor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977640" y="1417320"/>
            <a:ext cx="73152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5875">
            <a:solidFill>
              <a:srgbClr val="118A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977640" y="1490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  Hospital Management System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37260" y="3131820"/>
            <a:ext cx="274320" cy="2743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A5C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" y="3406140"/>
            <a:ext cx="914" cy="502920"/>
          </a:xfrm>
          <a:prstGeom prst="line">
            <a:avLst/>
          </a:prstGeom>
          <a:noFill/>
          <a:ln w="25400">
            <a:solidFill>
              <a:srgbClr val="0A5C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589020"/>
            <a:ext cx="594360" cy="914"/>
          </a:xfrm>
          <a:prstGeom prst="line">
            <a:avLst/>
          </a:prstGeom>
          <a:noFill/>
          <a:ln w="25400">
            <a:solidFill>
              <a:srgbClr val="0A5C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77240" y="3909060"/>
            <a:ext cx="297180" cy="320040"/>
          </a:xfrm>
          <a:prstGeom prst="line">
            <a:avLst/>
          </a:prstGeom>
          <a:noFill/>
          <a:ln w="25400">
            <a:solidFill>
              <a:srgbClr val="0A5C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4420" y="3909060"/>
            <a:ext cx="297180" cy="320040"/>
          </a:xfrm>
          <a:prstGeom prst="line">
            <a:avLst/>
          </a:prstGeom>
          <a:noFill/>
          <a:ln w="25400">
            <a:solidFill>
              <a:srgbClr val="0A5C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28396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flipV="1">
            <a:off x="1371600" y="1723644"/>
            <a:ext cx="3429000" cy="1865376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440180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A5C6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 Dashboard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 flipV="1">
            <a:off x="1371600" y="2436876"/>
            <a:ext cx="3429000" cy="1152144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153412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A5C6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Doctor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flipV="1">
            <a:off x="1371600" y="3150108"/>
            <a:ext cx="3429000" cy="438912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66644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A5C6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Receptionist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371600" y="3589020"/>
            <a:ext cx="3429000" cy="274320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579876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A5C6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Patients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371600" y="3589020"/>
            <a:ext cx="3429000" cy="987552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293108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A5C6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Appointments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71600" y="3589020"/>
            <a:ext cx="3429000" cy="1700784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5006340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A5C6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Deactivate Account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71600" y="3589020"/>
            <a:ext cx="3429000" cy="2414016"/>
          </a:xfrm>
          <a:prstGeom prst="line">
            <a:avLst/>
          </a:prstGeom>
          <a:noFill/>
          <a:ln w="13970">
            <a:solidFill>
              <a:srgbClr val="C7D6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5719572"/>
            <a:ext cx="5852160" cy="566928"/>
          </a:xfrm>
          <a:prstGeom prst="ellipse">
            <a:avLst/>
          </a:prstGeom>
          <a:solidFill>
            <a:srgbClr val="EFF5F6"/>
          </a:solidFill>
          <a:ln w="15875">
            <a:solidFill>
              <a:srgbClr val="0A5C6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3" name="Image 0" descr="C:\Users\laksh\AppData\Local\Temp\claude\D--claude\d0701b1d-e099-4c13-83b8-30583566951a\scratchpad\hms_ppt\icons\out\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329" y="165872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7889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14400" y="31546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011680" y="4251960"/>
            <a:ext cx="81683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7E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and full field-level detail for every table in the system.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Overview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892040" y="1371600"/>
            <a:ext cx="23774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137160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6" name="Shape 4"/>
          <p:cNvSpPr/>
          <p:nvPr/>
        </p:nvSpPr>
        <p:spPr>
          <a:xfrm>
            <a:off x="4892040" y="1499616"/>
            <a:ext cx="2377440" cy="128016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371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accounts_user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965192" y="1645920"/>
            <a:ext cx="2231136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  ·  email (unique)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otp_code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1188720" y="23317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317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11" name="Shape 9"/>
          <p:cNvSpPr/>
          <p:nvPr/>
        </p:nvSpPr>
        <p:spPr>
          <a:xfrm>
            <a:off x="1188720" y="2459736"/>
            <a:ext cx="1828800" cy="12801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331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doctor_doctor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61872" y="2606040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 (1:1)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892040" y="233172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2331720"/>
            <a:ext cx="2377440" cy="256032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16" name="Shape 14"/>
          <p:cNvSpPr/>
          <p:nvPr/>
        </p:nvSpPr>
        <p:spPr>
          <a:xfrm>
            <a:off x="4892040" y="2459736"/>
            <a:ext cx="2377440" cy="12801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331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patient_patient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65192" y="2606040"/>
            <a:ext cx="223113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 (1:1)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registered_by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9006840" y="2331720"/>
            <a:ext cx="18288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3317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18AB2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2459736"/>
            <a:ext cx="1828800" cy="12801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2" name="Text 20"/>
          <p:cNvSpPr/>
          <p:nvPr/>
        </p:nvSpPr>
        <p:spPr>
          <a:xfrm>
            <a:off x="9052560" y="2331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receptionist_receptionist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079992" y="2606040"/>
            <a:ext cx="1682496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id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 (1:1)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290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57016"/>
            <a:ext cx="1600200" cy="12801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290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doctoravailability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0352" y="370332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doctor_id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2148840" y="3429000"/>
            <a:ext cx="1600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48840" y="34290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31" name="Shape 29"/>
          <p:cNvSpPr/>
          <p:nvPr/>
        </p:nvSpPr>
        <p:spPr>
          <a:xfrm>
            <a:off x="2148840" y="3557016"/>
            <a:ext cx="1600200" cy="12801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2" name="Text 30"/>
          <p:cNvSpPr/>
          <p:nvPr/>
        </p:nvSpPr>
        <p:spPr>
          <a:xfrm>
            <a:off x="2194560" y="3429000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blockeddate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221992" y="3703320"/>
            <a:ext cx="14538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doctor_id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4617720" y="342900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42900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EF476F"/>
          </a:solidFill>
          <a:ln/>
        </p:spPr>
      </p:sp>
      <p:sp>
        <p:nvSpPr>
          <p:cNvPr id="36" name="Shape 34"/>
          <p:cNvSpPr/>
          <p:nvPr/>
        </p:nvSpPr>
        <p:spPr>
          <a:xfrm>
            <a:off x="4617720" y="3557016"/>
            <a:ext cx="2926080" cy="128016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7" name="Text 35"/>
          <p:cNvSpPr/>
          <p:nvPr/>
        </p:nvSpPr>
        <p:spPr>
          <a:xfrm>
            <a:off x="4663440" y="34290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patient_appointment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90872" y="370332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patient_id, FK doctor_id</a:t>
            </a:r>
            <a:endParaRPr lang="en-US" sz="76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unique(doctor, date, slot)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9006840" y="342900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06840" y="342900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/>
        </p:spPr>
      </p:sp>
      <p:sp>
        <p:nvSpPr>
          <p:cNvPr id="41" name="Shape 39"/>
          <p:cNvSpPr/>
          <p:nvPr/>
        </p:nvSpPr>
        <p:spPr>
          <a:xfrm>
            <a:off x="9006840" y="3557016"/>
            <a:ext cx="1828800" cy="12801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2" name="Text 40"/>
          <p:cNvSpPr/>
          <p:nvPr/>
        </p:nvSpPr>
        <p:spPr>
          <a:xfrm>
            <a:off x="9052560" y="3429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patient_notification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079992" y="370332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user_id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3200400" y="443484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0" y="443484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0" y="4562856"/>
            <a:ext cx="2926080" cy="128016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47" name="Text 45"/>
          <p:cNvSpPr/>
          <p:nvPr/>
        </p:nvSpPr>
        <p:spPr>
          <a:xfrm>
            <a:off x="3246120" y="44348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doctor_prescription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73552" y="4709160"/>
            <a:ext cx="27797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doctor, patient, appointment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9006840" y="443484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06840" y="443484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A9B7BA"/>
          </a:solidFill>
          <a:ln/>
        </p:spPr>
      </p:sp>
      <p:sp>
        <p:nvSpPr>
          <p:cNvPr id="51" name="Shape 49"/>
          <p:cNvSpPr/>
          <p:nvPr/>
        </p:nvSpPr>
        <p:spPr>
          <a:xfrm>
            <a:off x="9006840" y="4562856"/>
            <a:ext cx="1828800" cy="128016"/>
          </a:xfrm>
          <a:prstGeom prst="rect">
            <a:avLst/>
          </a:prstGeom>
          <a:solidFill>
            <a:srgbClr val="A9B7BA"/>
          </a:solidFill>
          <a:ln/>
        </p:spPr>
      </p:sp>
      <p:sp>
        <p:nvSpPr>
          <p:cNvPr id="52" name="Text 50"/>
          <p:cNvSpPr/>
          <p:nvPr/>
        </p:nvSpPr>
        <p:spPr>
          <a:xfrm>
            <a:off x="9052560" y="44348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contactmessage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079992" y="470916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— no FK</a:t>
            </a:r>
            <a:endParaRPr lang="en-US" sz="760" dirty="0"/>
          </a:p>
        </p:txBody>
      </p:sp>
      <p:sp>
        <p:nvSpPr>
          <p:cNvPr id="54" name="Shape 52"/>
          <p:cNvSpPr/>
          <p:nvPr/>
        </p:nvSpPr>
        <p:spPr>
          <a:xfrm>
            <a:off x="3200400" y="5440680"/>
            <a:ext cx="29260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5440680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073B4C"/>
          </a:solidFill>
          <a:ln/>
        </p:spPr>
      </p:sp>
      <p:sp>
        <p:nvSpPr>
          <p:cNvPr id="56" name="Shape 54"/>
          <p:cNvSpPr/>
          <p:nvPr/>
        </p:nvSpPr>
        <p:spPr>
          <a:xfrm>
            <a:off x="3200400" y="5568696"/>
            <a:ext cx="2926080" cy="128016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57" name="Text 55"/>
          <p:cNvSpPr/>
          <p:nvPr/>
        </p:nvSpPr>
        <p:spPr>
          <a:xfrm>
            <a:off x="3246120" y="54406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doctor_prescriptionmedicine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273552" y="571500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76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prescription_id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 flipV="1">
            <a:off x="2103120" y="2057400"/>
            <a:ext cx="397764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080760" y="2057400"/>
            <a:ext cx="18288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80760" y="2057400"/>
            <a:ext cx="384048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2103120" y="2057400"/>
            <a:ext cx="306324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80760" y="2057400"/>
            <a:ext cx="18288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95160" y="2057400"/>
            <a:ext cx="2926080" cy="2743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269480" y="1714500"/>
            <a:ext cx="3840480" cy="1714500"/>
          </a:xfrm>
          <a:prstGeom prst="line">
            <a:avLst/>
          </a:prstGeom>
          <a:noFill/>
          <a:ln w="13970">
            <a:solidFill>
              <a:srgbClr val="76898E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 flipV="1">
            <a:off x="1257300" y="3108960"/>
            <a:ext cx="571500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377440" y="3108960"/>
            <a:ext cx="571500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03120" y="3108960"/>
            <a:ext cx="2788920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80760" y="3108960"/>
            <a:ext cx="18288" cy="32004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69480" y="2720340"/>
            <a:ext cx="2651760" cy="38862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03120" y="3108960"/>
            <a:ext cx="1463040" cy="132588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4663440" y="3108960"/>
            <a:ext cx="1417320" cy="1325880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5760720" y="4087368"/>
            <a:ext cx="320040" cy="347472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63440" y="5093208"/>
            <a:ext cx="18288" cy="347472"/>
          </a:xfrm>
          <a:prstGeom prst="line">
            <a:avLst/>
          </a:prstGeom>
          <a:noFill/>
          <a:ln w="13970">
            <a:solidFill>
              <a:srgbClr val="76898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61722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line = 1:M via FK across app boundary. All role-profile links (User↔Doctor/Patient/Receptionist) are 1:1; all others are 1:M. patient_contactmessage has no foreign keys.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accounts_user</a:t>
            </a:r>
            <a:endParaRPr lang="en-US" sz="2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529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— login identifier (USERNAME_FIELD)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username, first_name, last_name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from Django AbstractUser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Hashed password (Django auth)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admin / doctor / receptionist / patient; default 'patient'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/ Null — pending 6-digit verification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otp_created_at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/ Null — used with a 5-minute expiry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is_active, is_staff, is_superuser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— account status &amp; permission flags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last_login, date_joined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— audit timestamps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AUTH_USER_MODEL for the project — extends django.contrib.auth.models.AbstractUser. Shared by all four portals.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patient_patient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31013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OneToOneField → accounts_user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CharField(20), unique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Auto-generated, e.g. 'PAT000007' (in save())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registered_by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receptionist_receptionist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 — set when front-desk registered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profile_image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phone, date_of_birth, gender, blood_group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/ Date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&amp; demographic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address, city, state, country, pincode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 / Text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emergency_contact_name, emergency_contact_number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contact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allergies, medical_history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Free-text clinical 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patient_appointment</a:t>
            </a:r>
            <a:endParaRPr lang="en-US" sz="2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7813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patient_patient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doctor_doctor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time_slot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'09:00 AM'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new / follow-up; default 'new'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departments; default 'general'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/ confirmed / cancelled / completed; default 'pending'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— reason for visit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Meta.unique_together = ('doctor', 'appointment_date', 'time_slot') — enforces conflict-free scheduling at the database level.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patient_notification  &amp;  patient_contactmessage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patient_notification</a:t>
            </a:r>
            <a:endParaRPr lang="en-US" sz="14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486400" cy="17754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accounts_user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by all 4 portals’ bell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CharField(30)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/ reminder / cancelled / general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CharField(255)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default=False — drives unread badge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patient_contactmessage</a:t>
            </a:r>
            <a:endParaRPr lang="en-US" sz="14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94960" cy="17145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7B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B7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DateTimeField, auto_now_add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5349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 the public "Contact Us" form — standalone, no foreign keys.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doctor_doctor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6898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OneToOneField → accounts_user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departments (choices)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specialization, qualification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profile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experience_years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PositiveIntegerField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default=0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consultation_fee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PositiveIntegerField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default=0 — used for admin revenue estimate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bio, profile_picture, license_number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Image / Char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profile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registered_since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PositiveIntegerField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Year, nullable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slot_duration, buffer_time, max_per_day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PositiveIntegerField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Scheduling config (defaults: 30 / 5 min)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doctor_doctoravailability  &amp;  doctor_blockeddate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doctor_doctoravailability</a:t>
            </a:r>
            <a:endParaRPr lang="en-US" sz="1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5486400" cy="12268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doctor_doctor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monday – sunday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default=True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start_time, end_time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defaults: '09:00' / '17:00'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Meta.unique_together = ('doctor', 'day')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30936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doctor_blockeddate</a:t>
            </a:r>
            <a:endParaRPr lang="en-US" sz="1400" dirty="0"/>
          </a:p>
        </p:txBody>
      </p:sp>
      <p:graphicFrame>
        <p:nvGraphicFramePr>
          <p:cNvPr id="7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394960" cy="9829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D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doctor_doctor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fully unavailable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allowed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3429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Meta.unique_together = ('doctor', 'date')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02920" y="42062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two tables let a doctor configure a recurring weekly schedule and mark specific one-off unavailable dates (leave, holidays, etc.).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doctor_prescription</a:t>
            </a:r>
            <a:endParaRPr lang="en-US" sz="26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2783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doctor_doctor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patient_patient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patient_appointment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Nullable, on_delete=SET_NULL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follow_up_date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/ Null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Meta.ordering = ['-created_at'] — most recent prescriptions listed first.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doctor_prescriptionmedicine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026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ForeignKey → doctor_prescription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 — one row per medicine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"500mg"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once/twice/thrice a day, every 6h/8h, as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"5 days"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e.g. "After food"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2636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Prescription can have multiple PrescriptionMedicine rows — authored via a dynamic multi-row form.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receptionist_receptionist</a:t>
            </a:r>
            <a:endParaRPr lang="en-US" sz="2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55680" cy="2026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OneToOneField → accounts_user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on_delete=CASCADE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CharField(20), unique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Auto-generated, e.g. 'REC000003'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allowed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profile_picture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CharField(10)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Choices: morning / evening / night; default 'morning'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date_joined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4E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auto_now_add=True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118585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9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Enhancements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3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08760"/>
            <a:ext cx="5257800" cy="457200"/>
          </a:xfrm>
          <a:prstGeom prst="roundRect">
            <a:avLst>
              <a:gd name="adj" fmla="val 16000"/>
            </a:avLst>
          </a:prstGeom>
          <a:solidFill>
            <a:srgbClr val="118AB2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5087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103120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EFF5F6"/>
          </a:solidFill>
          <a:ln w="9525">
            <a:solidFill>
              <a:srgbClr val="D7E3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HMS replaces manual, paper-based hospital workflows with one centralized, role-based Django web application.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distinct portals (Patient, Doctor, Receptionist, Admin) share one authentication core and one appointment/notification data layer.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Database-level constraints and mandatory email-OTP verification make the system both reliable and secure by design.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faster patient service, less administrative overhead, and real-time operational visibility for management.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7091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backend for the forgot-password flow (currently UI-only)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online payment / billing integration for consultation fees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SMS / push notifications alongside email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laboratory / diagnostic report management module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uploaded media to external cloud storage (e.g. S3) for production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automated test suite for regression safety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3B4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native mobile app or PWA for patients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689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754880"/>
            <a:ext cx="3840480" cy="3840480"/>
          </a:xfrm>
          <a:prstGeom prst="ellipse">
            <a:avLst/>
          </a:prstGeom>
          <a:solidFill>
            <a:srgbClr val="0C5265"/>
          </a:solidFill>
          <a:ln/>
        </p:spPr>
      </p:sp>
      <p:sp>
        <p:nvSpPr>
          <p:cNvPr id="4" name="Shape 2"/>
          <p:cNvSpPr/>
          <p:nvPr/>
        </p:nvSpPr>
        <p:spPr>
          <a:xfrm>
            <a:off x="5638648" y="1965960"/>
            <a:ext cx="914400" cy="914400"/>
          </a:xfrm>
          <a:prstGeom prst="ellipse">
            <a:avLst/>
          </a:prstGeom>
          <a:solidFill>
            <a:srgbClr val="0E5A6E"/>
          </a:solidFill>
          <a:ln/>
        </p:spPr>
      </p:sp>
      <p:pic>
        <p:nvPicPr>
          <p:cNvPr id="5" name="Image 0" descr="C:\Users\laksh\AppData\Local\Temp\claude\D--claude\d0701b1d-e099-4c13-83b8-30583566951a\scratchpad\hms_ppt\icons\out\handshake_06D6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2185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6634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  —  [LAKASIT SUTHAR,NIRMEET MAKWANA,PRINSI TRAPASIYA]  </a:t>
            </a:r>
            <a:r>
              <a:rPr lang="en-US" sz="1200">
                <a:solidFill>
                  <a:srgbClr val="CF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[LJ UNIVERSITY]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Management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F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3903</Words>
  <Application>Microsoft Office PowerPoint</Application>
  <PresentationFormat>Widescreen</PresentationFormat>
  <Paragraphs>872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- Project Presentation</dc:title>
  <dc:subject>PptxGenJS Presentation</dc:subject>
  <dc:creator>Hospital Management System Project</dc:creator>
  <cp:lastModifiedBy>lakshit suthar</cp:lastModifiedBy>
  <cp:revision>9</cp:revision>
  <dcterms:created xsi:type="dcterms:W3CDTF">2026-08-19T15:07:32Z</dcterms:created>
  <dcterms:modified xsi:type="dcterms:W3CDTF">2026-08-22T05:02:46Z</dcterms:modified>
</cp:coreProperties>
</file>