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3" r:id="rId25"/>
    <p:sldId id="284" r:id="rId26"/>
    <p:sldId id="285" r:id="rId27"/>
    <p:sldId id="286" r:id="rId28"/>
    <p:sldId id="287" r:id="rId29"/>
    <p:sldId id="296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8489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4.png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5.png"/><Relationship Id="rId5" Type="http://schemas.openxmlformats.org/officeDocument/2006/relationships/image" Target="../media/image17.png"/><Relationship Id="rId10" Type="http://schemas.openxmlformats.org/officeDocument/2006/relationships/image" Target="../media/image13.png"/><Relationship Id="rId4" Type="http://schemas.openxmlformats.org/officeDocument/2006/relationships/image" Target="../media/image16.png"/><Relationship Id="rId9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480560"/>
            <a:ext cx="3840480" cy="384048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4" name="Shape 2"/>
          <p:cNvSpPr/>
          <p:nvPr/>
        </p:nvSpPr>
        <p:spPr>
          <a:xfrm>
            <a:off x="5592928" y="86868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5" name="Image 0" descr="C:\Users\laksh\AppData\Local\Temp\claude\D--claude\d0701b1d-e099-4c13-83b8-30583566951a\scratchpad\hms_ppt\icons\out\hospital_06D6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110082"/>
            <a:ext cx="523037" cy="52303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148840"/>
            <a:ext cx="103628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HOSPITAL MANAGEMENT SYSTEM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554480" y="3063240"/>
            <a:ext cx="90827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i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Role-Based, Multi-Portal Web Application for Digital Hospital Administration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4907128" y="3794760"/>
            <a:ext cx="2377440" cy="0"/>
          </a:xfrm>
          <a:prstGeom prst="line">
            <a:avLst/>
          </a:prstGeom>
          <a:noFill/>
          <a:ln w="12700">
            <a:solidFill>
              <a:srgbClr val="2E7C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06908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by: </a:t>
            </a:r>
            <a:r>
              <a:rPr lang="en-US" sz="13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[LAKSHIT SUTHAR,NIRMEET MAKWANA,PRINSI TRAPASIYA  ]</a:t>
            </a:r>
            <a:r>
              <a:rPr lang="en-US" sz="1300" dirty="0">
                <a:solidFill>
                  <a:srgbClr val="5C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No.: </a:t>
            </a:r>
            <a:r>
              <a:rPr lang="en-US" sz="13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[D45,D23,D48]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14400" y="4407408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</a:t>
            </a:r>
            <a:r>
              <a:rPr lang="en-US" sz="13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[MCA SEM-3]</a:t>
            </a:r>
            <a:r>
              <a:rPr lang="en-US" sz="1300" dirty="0">
                <a:solidFill>
                  <a:srgbClr val="5C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by: </a:t>
            </a:r>
            <a:r>
              <a:rPr lang="en-US" sz="1300" b="1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[PROF. AJAY CHAUHAN</a:t>
            </a:r>
            <a:r>
              <a:rPr lang="en-US" sz="13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14400" y="480060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[LJ UNIVERSITY]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5102352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[2026-2027]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14400" y="608076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FA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Django 6.1  ·  Python 3  ·  SQLite / PostgreSQL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609344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0934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78408" y="1554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2267712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6771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78408" y="221284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of the New System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2926080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26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78408" y="287121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3584448"/>
            <a:ext cx="347472" cy="347472"/>
          </a:xfrm>
          <a:prstGeom prst="ellipse">
            <a:avLst/>
          </a:prstGeom>
          <a:solidFill>
            <a:srgbClr val="073B4C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58444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78408" y="3529584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Profile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4242816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24281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78408" y="4187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of the New System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02920" y="4901184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9011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78408" y="4846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the New System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02920" y="5559552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55595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78408" y="550468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&amp; Limitations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02920" y="6217920"/>
            <a:ext cx="347472" cy="347472"/>
          </a:xfrm>
          <a:prstGeom prst="ellipse">
            <a:avLst/>
          </a:prstGeom>
          <a:solidFill>
            <a:srgbClr val="073B4C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6217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78408" y="616305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Timeline Chart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217920" y="1609344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160934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93408" y="1554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Users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6217920" y="2267712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32" name="Text 30"/>
          <p:cNvSpPr/>
          <p:nvPr/>
        </p:nvSpPr>
        <p:spPr>
          <a:xfrm>
            <a:off x="6153912" y="2267712"/>
            <a:ext cx="4754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93408" y="221284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Determination &amp; Analysis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217920" y="2926080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35" name="Text 33"/>
          <p:cNvSpPr/>
          <p:nvPr/>
        </p:nvSpPr>
        <p:spPr>
          <a:xfrm>
            <a:off x="6185916" y="2913888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93408" y="287121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6217920" y="3584448"/>
            <a:ext cx="347472" cy="347472"/>
          </a:xfrm>
          <a:prstGeom prst="ellipse">
            <a:avLst/>
          </a:prstGeom>
          <a:solidFill>
            <a:srgbClr val="073B4C"/>
          </a:solidFill>
          <a:ln/>
        </p:spPr>
      </p:sp>
      <p:sp>
        <p:nvSpPr>
          <p:cNvPr id="38" name="Text 36"/>
          <p:cNvSpPr/>
          <p:nvPr/>
        </p:nvSpPr>
        <p:spPr>
          <a:xfrm>
            <a:off x="6080760" y="3584448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93408" y="3529584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6217920" y="4242816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41" name="Text 39"/>
          <p:cNvSpPr/>
          <p:nvPr/>
        </p:nvSpPr>
        <p:spPr>
          <a:xfrm>
            <a:off x="6153912" y="4242816"/>
            <a:ext cx="484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93408" y="4187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Diagrams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6217920" y="4901184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44" name="Text 42"/>
          <p:cNvSpPr/>
          <p:nvPr/>
        </p:nvSpPr>
        <p:spPr>
          <a:xfrm>
            <a:off x="6080760" y="4901184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693408" y="4846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&amp; Tables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6217920" y="5559552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7" name="Text 45"/>
          <p:cNvSpPr/>
          <p:nvPr/>
        </p:nvSpPr>
        <p:spPr>
          <a:xfrm>
            <a:off x="6123432" y="5559552"/>
            <a:ext cx="57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693408" y="550468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Scope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>
            <a:extLst>
              <a:ext uri="{FF2B5EF4-FFF2-40B4-BE49-F238E27FC236}">
                <a16:creationId xmlns:a16="http://schemas.microsoft.com/office/drawing/2014/main" id="{02291A85-8D4B-851A-A307-576324DABE01}"/>
              </a:ext>
            </a:extLst>
          </p:cNvPr>
          <p:cNvSpPr txBox="1"/>
          <p:nvPr/>
        </p:nvSpPr>
        <p:spPr>
          <a:xfrm>
            <a:off x="472440" y="265176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50" b="1">
                <a:solidFill>
                  <a:srgbClr val="1289AE"/>
                </a:solidFill>
                <a:latin typeface="Aptos"/>
              </a:rPr>
              <a:t>THE CHALLENGE</a:t>
            </a:r>
          </a:p>
        </p:txBody>
      </p:sp>
      <p:sp>
        <p:nvSpPr>
          <p:cNvPr id="75" name="TextBox 2">
            <a:extLst>
              <a:ext uri="{FF2B5EF4-FFF2-40B4-BE49-F238E27FC236}">
                <a16:creationId xmlns:a16="http://schemas.microsoft.com/office/drawing/2014/main" id="{1F5DCFBE-52C2-9A84-62F0-B7B93DC7AA40}"/>
              </a:ext>
            </a:extLst>
          </p:cNvPr>
          <p:cNvSpPr txBox="1"/>
          <p:nvPr/>
        </p:nvSpPr>
        <p:spPr>
          <a:xfrm>
            <a:off x="472440" y="475488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2500" b="1">
                <a:solidFill>
                  <a:srgbClr val="0F313F"/>
                </a:solidFill>
                <a:latin typeface="Georgia"/>
              </a:rPr>
              <a:t>Problem Definition</a:t>
            </a:r>
          </a:p>
        </p:txBody>
      </p:sp>
      <p:sp>
        <p:nvSpPr>
          <p:cNvPr id="76" name="Rounded Rectangle 3">
            <a:extLst>
              <a:ext uri="{FF2B5EF4-FFF2-40B4-BE49-F238E27FC236}">
                <a16:creationId xmlns:a16="http://schemas.microsoft.com/office/drawing/2014/main" id="{BC9C2E8A-2391-395C-C51D-71C36BF98C3A}"/>
              </a:ext>
            </a:extLst>
          </p:cNvPr>
          <p:cNvSpPr/>
          <p:nvPr/>
        </p:nvSpPr>
        <p:spPr>
          <a:xfrm rot="21180000">
            <a:off x="8930640" y="192024"/>
            <a:ext cx="2103120" cy="822960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868AE5E-C374-C47E-1C04-4A2F272BC062}"/>
              </a:ext>
            </a:extLst>
          </p:cNvPr>
          <p:cNvSpPr/>
          <p:nvPr/>
        </p:nvSpPr>
        <p:spPr>
          <a:xfrm>
            <a:off x="9726168" y="374904"/>
            <a:ext cx="475488" cy="475488"/>
          </a:xfrm>
          <a:prstGeom prst="ellipse">
            <a:avLst/>
          </a:prstGeom>
          <a:solidFill>
            <a:srgbClr val="0F3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78" name="TextBox 5">
            <a:extLst>
              <a:ext uri="{FF2B5EF4-FFF2-40B4-BE49-F238E27FC236}">
                <a16:creationId xmlns:a16="http://schemas.microsoft.com/office/drawing/2014/main" id="{32D8CBD7-BAB8-2B3B-C99D-8C35DC35CAD2}"/>
              </a:ext>
            </a:extLst>
          </p:cNvPr>
          <p:cNvSpPr txBox="1"/>
          <p:nvPr/>
        </p:nvSpPr>
        <p:spPr>
          <a:xfrm>
            <a:off x="9726168" y="420624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!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6106B675-77D9-66BE-24FA-BAF21FF558F2}"/>
              </a:ext>
            </a:extLst>
          </p:cNvPr>
          <p:cNvSpPr/>
          <p:nvPr/>
        </p:nvSpPr>
        <p:spPr>
          <a:xfrm>
            <a:off x="9406128" y="658368"/>
            <a:ext cx="310896" cy="310896"/>
          </a:xfrm>
          <a:prstGeom prst="ellipse">
            <a:avLst/>
          </a:prstGeom>
          <a:solidFill>
            <a:srgbClr val="1289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80" name="TextBox 7">
            <a:extLst>
              <a:ext uri="{FF2B5EF4-FFF2-40B4-BE49-F238E27FC236}">
                <a16:creationId xmlns:a16="http://schemas.microsoft.com/office/drawing/2014/main" id="{C4F989A2-E610-0CAF-90C9-0ACF670B3F33}"/>
              </a:ext>
            </a:extLst>
          </p:cNvPr>
          <p:cNvSpPr txBox="1"/>
          <p:nvPr/>
        </p:nvSpPr>
        <p:spPr>
          <a:xfrm>
            <a:off x="9406128" y="676656"/>
            <a:ext cx="310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×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56608980-054B-83D1-648E-A73086B0B0FD}"/>
              </a:ext>
            </a:extLst>
          </p:cNvPr>
          <p:cNvSpPr/>
          <p:nvPr/>
        </p:nvSpPr>
        <p:spPr>
          <a:xfrm>
            <a:off x="10384536" y="210312"/>
            <a:ext cx="237744" cy="237744"/>
          </a:xfrm>
          <a:prstGeom prst="ellipse">
            <a:avLst/>
          </a:prstGeom>
          <a:solidFill>
            <a:srgbClr val="0FAD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82" name="TextBox 9">
            <a:extLst>
              <a:ext uri="{FF2B5EF4-FFF2-40B4-BE49-F238E27FC236}">
                <a16:creationId xmlns:a16="http://schemas.microsoft.com/office/drawing/2014/main" id="{ACA8FF17-468E-B838-6D01-9501C63442D9}"/>
              </a:ext>
            </a:extLst>
          </p:cNvPr>
          <p:cNvSpPr txBox="1"/>
          <p:nvPr/>
        </p:nvSpPr>
        <p:spPr>
          <a:xfrm>
            <a:off x="10384536" y="219456"/>
            <a:ext cx="23774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83" name="Rounded Rectangle 10">
            <a:extLst>
              <a:ext uri="{FF2B5EF4-FFF2-40B4-BE49-F238E27FC236}">
                <a16:creationId xmlns:a16="http://schemas.microsoft.com/office/drawing/2014/main" id="{64387C91-CB31-1431-BB36-4E6E29371BBB}"/>
              </a:ext>
            </a:extLst>
          </p:cNvPr>
          <p:cNvSpPr/>
          <p:nvPr/>
        </p:nvSpPr>
        <p:spPr>
          <a:xfrm>
            <a:off x="472440" y="1316736"/>
            <a:ext cx="3566160" cy="1298448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7443730-4EA3-056A-5E61-C2434F1AF18E}"/>
              </a:ext>
            </a:extLst>
          </p:cNvPr>
          <p:cNvSpPr/>
          <p:nvPr/>
        </p:nvSpPr>
        <p:spPr>
          <a:xfrm>
            <a:off x="618744" y="1389888"/>
            <a:ext cx="393192" cy="393192"/>
          </a:xfrm>
          <a:prstGeom prst="ellipse">
            <a:avLst/>
          </a:prstGeom>
          <a:solidFill>
            <a:srgbClr val="188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85" name="TextBox 12">
            <a:extLst>
              <a:ext uri="{FF2B5EF4-FFF2-40B4-BE49-F238E27FC236}">
                <a16:creationId xmlns:a16="http://schemas.microsoft.com/office/drawing/2014/main" id="{4BF69047-C80C-25C6-F3D2-698EC95F797E}"/>
              </a:ext>
            </a:extLst>
          </p:cNvPr>
          <p:cNvSpPr txBox="1"/>
          <p:nvPr/>
        </p:nvSpPr>
        <p:spPr>
          <a:xfrm>
            <a:off x="618744" y="1531620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75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86" name="TextBox 13">
            <a:extLst>
              <a:ext uri="{FF2B5EF4-FFF2-40B4-BE49-F238E27FC236}">
                <a16:creationId xmlns:a16="http://schemas.microsoft.com/office/drawing/2014/main" id="{056CA56D-5D6D-B937-E5B3-4603D2BB9CE3}"/>
              </a:ext>
            </a:extLst>
          </p:cNvPr>
          <p:cNvSpPr txBox="1"/>
          <p:nvPr/>
        </p:nvSpPr>
        <p:spPr>
          <a:xfrm>
            <a:off x="1112520" y="1481328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19" b="1">
                <a:solidFill>
                  <a:srgbClr val="0F313F"/>
                </a:solidFill>
                <a:latin typeface="Aptos"/>
              </a:rPr>
              <a:t>Fragmented Records</a:t>
            </a:r>
          </a:p>
        </p:txBody>
      </p:sp>
      <p:cxnSp>
        <p:nvCxnSpPr>
          <p:cNvPr id="87" name="Connector 14">
            <a:extLst>
              <a:ext uri="{FF2B5EF4-FFF2-40B4-BE49-F238E27FC236}">
                <a16:creationId xmlns:a16="http://schemas.microsoft.com/office/drawing/2014/main" id="{3553C7C4-FC4E-742F-2000-B25FAC169857}"/>
              </a:ext>
            </a:extLst>
          </p:cNvPr>
          <p:cNvCxnSpPr/>
          <p:nvPr/>
        </p:nvCxnSpPr>
        <p:spPr>
          <a:xfrm>
            <a:off x="627888" y="1865375"/>
            <a:ext cx="3255264" cy="0"/>
          </a:xfrm>
          <a:prstGeom prst="line">
            <a:avLst/>
          </a:prstGeom>
          <a:ln w="13970">
            <a:solidFill>
              <a:srgbClr val="188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15">
            <a:extLst>
              <a:ext uri="{FF2B5EF4-FFF2-40B4-BE49-F238E27FC236}">
                <a16:creationId xmlns:a16="http://schemas.microsoft.com/office/drawing/2014/main" id="{E66AEDEE-20D8-7CAA-027D-9CA852F4E204}"/>
              </a:ext>
            </a:extLst>
          </p:cNvPr>
          <p:cNvSpPr txBox="1"/>
          <p:nvPr/>
        </p:nvSpPr>
        <p:spPr>
          <a:xfrm>
            <a:off x="637032" y="1947671"/>
            <a:ext cx="3218688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>
                <a:solidFill>
                  <a:srgbClr val="374850"/>
                </a:solidFill>
                <a:latin typeface="Aptos"/>
              </a:rPr>
              <a:t>Patient registration, appointment slips and prescriptions are maintained in paper registers or disconnected spreadsheets.</a:t>
            </a:r>
          </a:p>
        </p:txBody>
      </p:sp>
      <p:sp>
        <p:nvSpPr>
          <p:cNvPr id="89" name="TextBox 16">
            <a:extLst>
              <a:ext uri="{FF2B5EF4-FFF2-40B4-BE49-F238E27FC236}">
                <a16:creationId xmlns:a16="http://schemas.microsoft.com/office/drawing/2014/main" id="{85B1D72D-026F-21B3-DAF8-A3122F94B7C5}"/>
              </a:ext>
            </a:extLst>
          </p:cNvPr>
          <p:cNvSpPr txBox="1"/>
          <p:nvPr/>
        </p:nvSpPr>
        <p:spPr>
          <a:xfrm>
            <a:off x="637032" y="2368295"/>
            <a:ext cx="32186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20" b="1">
                <a:solidFill>
                  <a:srgbClr val="188FBF"/>
                </a:solidFill>
                <a:latin typeface="Aptos"/>
              </a:rPr>
              <a:t>IMPACT  •  No single source of truth</a:t>
            </a:r>
          </a:p>
        </p:txBody>
      </p:sp>
      <p:sp>
        <p:nvSpPr>
          <p:cNvPr id="90" name="Rounded Rectangle 17">
            <a:extLst>
              <a:ext uri="{FF2B5EF4-FFF2-40B4-BE49-F238E27FC236}">
                <a16:creationId xmlns:a16="http://schemas.microsoft.com/office/drawing/2014/main" id="{29184796-24BD-2889-026E-556BD168C3DF}"/>
              </a:ext>
            </a:extLst>
          </p:cNvPr>
          <p:cNvSpPr/>
          <p:nvPr/>
        </p:nvSpPr>
        <p:spPr>
          <a:xfrm>
            <a:off x="4175760" y="1316736"/>
            <a:ext cx="3566160" cy="1298448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BC594919-03CB-5ACA-164B-EA54FB1F6375}"/>
              </a:ext>
            </a:extLst>
          </p:cNvPr>
          <p:cNvSpPr/>
          <p:nvPr/>
        </p:nvSpPr>
        <p:spPr>
          <a:xfrm>
            <a:off x="4322064" y="1399031"/>
            <a:ext cx="393192" cy="393192"/>
          </a:xfrm>
          <a:prstGeom prst="ellipse">
            <a:avLst/>
          </a:prstGeom>
          <a:solidFill>
            <a:srgbClr val="0FAD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92" name="TextBox 19">
            <a:extLst>
              <a:ext uri="{FF2B5EF4-FFF2-40B4-BE49-F238E27FC236}">
                <a16:creationId xmlns:a16="http://schemas.microsoft.com/office/drawing/2014/main" id="{D04CF18A-F7F9-B365-C332-7884AE4BD806}"/>
              </a:ext>
            </a:extLst>
          </p:cNvPr>
          <p:cNvSpPr txBox="1"/>
          <p:nvPr/>
        </p:nvSpPr>
        <p:spPr>
          <a:xfrm>
            <a:off x="4322064" y="1531620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75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93" name="TextBox 20">
            <a:extLst>
              <a:ext uri="{FF2B5EF4-FFF2-40B4-BE49-F238E27FC236}">
                <a16:creationId xmlns:a16="http://schemas.microsoft.com/office/drawing/2014/main" id="{899839DE-48D4-C48E-B90D-D5C3E517179F}"/>
              </a:ext>
            </a:extLst>
          </p:cNvPr>
          <p:cNvSpPr txBox="1"/>
          <p:nvPr/>
        </p:nvSpPr>
        <p:spPr>
          <a:xfrm>
            <a:off x="4815840" y="1481328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19" b="1">
                <a:solidFill>
                  <a:srgbClr val="0F313F"/>
                </a:solidFill>
                <a:latin typeface="Aptos"/>
              </a:rPr>
              <a:t>Manual Scheduling</a:t>
            </a:r>
          </a:p>
        </p:txBody>
      </p:sp>
      <p:cxnSp>
        <p:nvCxnSpPr>
          <p:cNvPr id="94" name="Connector 21">
            <a:extLst>
              <a:ext uri="{FF2B5EF4-FFF2-40B4-BE49-F238E27FC236}">
                <a16:creationId xmlns:a16="http://schemas.microsoft.com/office/drawing/2014/main" id="{B245EA7F-94BD-CFA3-5D9E-E06F4C57F527}"/>
              </a:ext>
            </a:extLst>
          </p:cNvPr>
          <p:cNvCxnSpPr/>
          <p:nvPr/>
        </p:nvCxnSpPr>
        <p:spPr>
          <a:xfrm>
            <a:off x="4331208" y="1865375"/>
            <a:ext cx="3255263" cy="0"/>
          </a:xfrm>
          <a:prstGeom prst="line">
            <a:avLst/>
          </a:prstGeom>
          <a:ln w="13970">
            <a:solidFill>
              <a:srgbClr val="0FAD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22">
            <a:extLst>
              <a:ext uri="{FF2B5EF4-FFF2-40B4-BE49-F238E27FC236}">
                <a16:creationId xmlns:a16="http://schemas.microsoft.com/office/drawing/2014/main" id="{F88069F5-1E16-CA8B-E857-B25FEACEE60C}"/>
              </a:ext>
            </a:extLst>
          </p:cNvPr>
          <p:cNvSpPr txBox="1"/>
          <p:nvPr/>
        </p:nvSpPr>
        <p:spPr>
          <a:xfrm>
            <a:off x="4340352" y="1947671"/>
            <a:ext cx="3218688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>
                <a:solidFill>
                  <a:srgbClr val="374850"/>
                </a:solidFill>
                <a:latin typeface="Aptos"/>
              </a:rPr>
              <a:t>Doctor time slots are booked manually at the front desk, increasing the risk of double-booking and long waiting times.</a:t>
            </a:r>
          </a:p>
        </p:txBody>
      </p:sp>
      <p:sp>
        <p:nvSpPr>
          <p:cNvPr id="96" name="TextBox 23">
            <a:extLst>
              <a:ext uri="{FF2B5EF4-FFF2-40B4-BE49-F238E27FC236}">
                <a16:creationId xmlns:a16="http://schemas.microsoft.com/office/drawing/2014/main" id="{C3E51F28-B74E-BE0A-D5C1-0400A1423135}"/>
              </a:ext>
            </a:extLst>
          </p:cNvPr>
          <p:cNvSpPr txBox="1"/>
          <p:nvPr/>
        </p:nvSpPr>
        <p:spPr>
          <a:xfrm>
            <a:off x="4340352" y="2368295"/>
            <a:ext cx="32186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20" b="1">
                <a:solidFill>
                  <a:srgbClr val="0FAD97"/>
                </a:solidFill>
                <a:latin typeface="Aptos"/>
              </a:rPr>
              <a:t>IMPACT  •  Scheduling is slow and error-prone</a:t>
            </a:r>
          </a:p>
        </p:txBody>
      </p:sp>
      <p:sp>
        <p:nvSpPr>
          <p:cNvPr id="97" name="Rounded Rectangle 24">
            <a:extLst>
              <a:ext uri="{FF2B5EF4-FFF2-40B4-BE49-F238E27FC236}">
                <a16:creationId xmlns:a16="http://schemas.microsoft.com/office/drawing/2014/main" id="{50CC7F76-327F-DF56-B2B2-681D650A6DEC}"/>
              </a:ext>
            </a:extLst>
          </p:cNvPr>
          <p:cNvSpPr/>
          <p:nvPr/>
        </p:nvSpPr>
        <p:spPr>
          <a:xfrm>
            <a:off x="7879080" y="1316736"/>
            <a:ext cx="3566160" cy="1298448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AD9829BB-B7D9-C6B0-985E-71DB50572964}"/>
              </a:ext>
            </a:extLst>
          </p:cNvPr>
          <p:cNvSpPr/>
          <p:nvPr/>
        </p:nvSpPr>
        <p:spPr>
          <a:xfrm>
            <a:off x="8025384" y="1399031"/>
            <a:ext cx="393192" cy="393192"/>
          </a:xfrm>
          <a:prstGeom prst="ellipse">
            <a:avLst/>
          </a:prstGeom>
          <a:solidFill>
            <a:srgbClr val="F243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99" name="TextBox 26">
            <a:extLst>
              <a:ext uri="{FF2B5EF4-FFF2-40B4-BE49-F238E27FC236}">
                <a16:creationId xmlns:a16="http://schemas.microsoft.com/office/drawing/2014/main" id="{F4FD14F3-4B2E-6C04-068D-024C684E007D}"/>
              </a:ext>
            </a:extLst>
          </p:cNvPr>
          <p:cNvSpPr txBox="1"/>
          <p:nvPr/>
        </p:nvSpPr>
        <p:spPr>
          <a:xfrm>
            <a:off x="8025384" y="1531620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75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00" name="TextBox 27">
            <a:extLst>
              <a:ext uri="{FF2B5EF4-FFF2-40B4-BE49-F238E27FC236}">
                <a16:creationId xmlns:a16="http://schemas.microsoft.com/office/drawing/2014/main" id="{C874FB0C-C832-3911-4C9B-BA5053A5C90D}"/>
              </a:ext>
            </a:extLst>
          </p:cNvPr>
          <p:cNvSpPr txBox="1"/>
          <p:nvPr/>
        </p:nvSpPr>
        <p:spPr>
          <a:xfrm>
            <a:off x="8519159" y="1481328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19" b="1">
                <a:solidFill>
                  <a:srgbClr val="0F313F"/>
                </a:solidFill>
                <a:latin typeface="Aptos"/>
              </a:rPr>
              <a:t>No Real-Time Availability</a:t>
            </a:r>
          </a:p>
        </p:txBody>
      </p:sp>
      <p:cxnSp>
        <p:nvCxnSpPr>
          <p:cNvPr id="101" name="Connector 28">
            <a:extLst>
              <a:ext uri="{FF2B5EF4-FFF2-40B4-BE49-F238E27FC236}">
                <a16:creationId xmlns:a16="http://schemas.microsoft.com/office/drawing/2014/main" id="{99BAEB67-4EF0-2227-D83E-9510405565B6}"/>
              </a:ext>
            </a:extLst>
          </p:cNvPr>
          <p:cNvCxnSpPr/>
          <p:nvPr/>
        </p:nvCxnSpPr>
        <p:spPr>
          <a:xfrm>
            <a:off x="8034528" y="1865375"/>
            <a:ext cx="3255264" cy="0"/>
          </a:xfrm>
          <a:prstGeom prst="line">
            <a:avLst/>
          </a:prstGeom>
          <a:ln w="13970">
            <a:solidFill>
              <a:srgbClr val="F243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29">
            <a:extLst>
              <a:ext uri="{FF2B5EF4-FFF2-40B4-BE49-F238E27FC236}">
                <a16:creationId xmlns:a16="http://schemas.microsoft.com/office/drawing/2014/main" id="{3C27A48C-D211-1EBF-91C7-E41752BF5B45}"/>
              </a:ext>
            </a:extLst>
          </p:cNvPr>
          <p:cNvSpPr txBox="1"/>
          <p:nvPr/>
        </p:nvSpPr>
        <p:spPr>
          <a:xfrm>
            <a:off x="8043671" y="1947671"/>
            <a:ext cx="3218688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>
                <a:solidFill>
                  <a:srgbClr val="374850"/>
                </a:solidFill>
                <a:latin typeface="Aptos"/>
              </a:rPr>
              <a:t>Patients and receptionists cannot quickly see which doctor is available on a specific date or time.</a:t>
            </a:r>
          </a:p>
        </p:txBody>
      </p:sp>
      <p:sp>
        <p:nvSpPr>
          <p:cNvPr id="103" name="TextBox 30">
            <a:extLst>
              <a:ext uri="{FF2B5EF4-FFF2-40B4-BE49-F238E27FC236}">
                <a16:creationId xmlns:a16="http://schemas.microsoft.com/office/drawing/2014/main" id="{CBF7E781-A660-D376-EDB2-E9A7F18DF1FB}"/>
              </a:ext>
            </a:extLst>
          </p:cNvPr>
          <p:cNvSpPr txBox="1"/>
          <p:nvPr/>
        </p:nvSpPr>
        <p:spPr>
          <a:xfrm>
            <a:off x="8043671" y="2368295"/>
            <a:ext cx="32186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20" b="1">
                <a:solidFill>
                  <a:srgbClr val="F2436F"/>
                </a:solidFill>
                <a:latin typeface="Aptos"/>
              </a:rPr>
              <a:t>IMPACT  •  Booking decisions lack live information</a:t>
            </a:r>
          </a:p>
        </p:txBody>
      </p:sp>
      <p:sp>
        <p:nvSpPr>
          <p:cNvPr id="104" name="Rounded Rectangle 31">
            <a:extLst>
              <a:ext uri="{FF2B5EF4-FFF2-40B4-BE49-F238E27FC236}">
                <a16:creationId xmlns:a16="http://schemas.microsoft.com/office/drawing/2014/main" id="{7B08466A-E41D-534F-14A4-AC84230D9E20}"/>
              </a:ext>
            </a:extLst>
          </p:cNvPr>
          <p:cNvSpPr/>
          <p:nvPr/>
        </p:nvSpPr>
        <p:spPr>
          <a:xfrm>
            <a:off x="472440" y="2752344"/>
            <a:ext cx="3566160" cy="1298448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DC04E8E6-6234-838D-6868-C06E7AC07B4E}"/>
              </a:ext>
            </a:extLst>
          </p:cNvPr>
          <p:cNvSpPr/>
          <p:nvPr/>
        </p:nvSpPr>
        <p:spPr>
          <a:xfrm>
            <a:off x="627888" y="2835402"/>
            <a:ext cx="393192" cy="393192"/>
          </a:xfrm>
          <a:prstGeom prst="ellipse">
            <a:avLst/>
          </a:prstGeom>
          <a:solidFill>
            <a:srgbClr val="785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06" name="TextBox 33">
            <a:extLst>
              <a:ext uri="{FF2B5EF4-FFF2-40B4-BE49-F238E27FC236}">
                <a16:creationId xmlns:a16="http://schemas.microsoft.com/office/drawing/2014/main" id="{F5DF1252-9153-48F9-F282-F84F00C66989}"/>
              </a:ext>
            </a:extLst>
          </p:cNvPr>
          <p:cNvSpPr txBox="1"/>
          <p:nvPr/>
        </p:nvSpPr>
        <p:spPr>
          <a:xfrm>
            <a:off x="618744" y="2967228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75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07" name="TextBox 34">
            <a:extLst>
              <a:ext uri="{FF2B5EF4-FFF2-40B4-BE49-F238E27FC236}">
                <a16:creationId xmlns:a16="http://schemas.microsoft.com/office/drawing/2014/main" id="{679D2774-6082-4695-3370-E925E1F92DBA}"/>
              </a:ext>
            </a:extLst>
          </p:cNvPr>
          <p:cNvSpPr txBox="1"/>
          <p:nvPr/>
        </p:nvSpPr>
        <p:spPr>
          <a:xfrm>
            <a:off x="1112520" y="2916936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19" b="1">
                <a:solidFill>
                  <a:srgbClr val="0F313F"/>
                </a:solidFill>
                <a:latin typeface="Aptos"/>
              </a:rPr>
              <a:t>Scattered Medical History</a:t>
            </a:r>
          </a:p>
        </p:txBody>
      </p:sp>
      <p:cxnSp>
        <p:nvCxnSpPr>
          <p:cNvPr id="108" name="Connector 35">
            <a:extLst>
              <a:ext uri="{FF2B5EF4-FFF2-40B4-BE49-F238E27FC236}">
                <a16:creationId xmlns:a16="http://schemas.microsoft.com/office/drawing/2014/main" id="{D2D07F5B-7512-1889-F9FD-41DFB94C858F}"/>
              </a:ext>
            </a:extLst>
          </p:cNvPr>
          <p:cNvCxnSpPr/>
          <p:nvPr/>
        </p:nvCxnSpPr>
        <p:spPr>
          <a:xfrm>
            <a:off x="627888" y="3300984"/>
            <a:ext cx="3255264" cy="0"/>
          </a:xfrm>
          <a:prstGeom prst="line">
            <a:avLst/>
          </a:prstGeom>
          <a:ln w="13970">
            <a:solidFill>
              <a:srgbClr val="7853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36">
            <a:extLst>
              <a:ext uri="{FF2B5EF4-FFF2-40B4-BE49-F238E27FC236}">
                <a16:creationId xmlns:a16="http://schemas.microsoft.com/office/drawing/2014/main" id="{6F8A4229-A54F-C0BD-DAA0-BE55F2F2EB51}"/>
              </a:ext>
            </a:extLst>
          </p:cNvPr>
          <p:cNvSpPr txBox="1"/>
          <p:nvPr/>
        </p:nvSpPr>
        <p:spPr>
          <a:xfrm>
            <a:off x="637032" y="3383280"/>
            <a:ext cx="3218688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>
                <a:solidFill>
                  <a:srgbClr val="374850"/>
                </a:solidFill>
                <a:latin typeface="Aptos"/>
              </a:rPr>
              <a:t>Past prescriptions and visit records are difficult to retrieve because medical information is stored across physical records.</a:t>
            </a:r>
          </a:p>
        </p:txBody>
      </p:sp>
      <p:sp>
        <p:nvSpPr>
          <p:cNvPr id="110" name="TextBox 37">
            <a:extLst>
              <a:ext uri="{FF2B5EF4-FFF2-40B4-BE49-F238E27FC236}">
                <a16:creationId xmlns:a16="http://schemas.microsoft.com/office/drawing/2014/main" id="{AE958341-24A2-5B7C-392C-6F541BE0B781}"/>
              </a:ext>
            </a:extLst>
          </p:cNvPr>
          <p:cNvSpPr txBox="1"/>
          <p:nvPr/>
        </p:nvSpPr>
        <p:spPr>
          <a:xfrm>
            <a:off x="637032" y="3803904"/>
            <a:ext cx="32186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20" b="1">
                <a:solidFill>
                  <a:srgbClr val="7853A4"/>
                </a:solidFill>
                <a:latin typeface="Aptos"/>
              </a:rPr>
              <a:t>IMPACT  •  Follow-up care becomes inefficient</a:t>
            </a:r>
          </a:p>
        </p:txBody>
      </p:sp>
      <p:sp>
        <p:nvSpPr>
          <p:cNvPr id="111" name="Rounded Rectangle 38">
            <a:extLst>
              <a:ext uri="{FF2B5EF4-FFF2-40B4-BE49-F238E27FC236}">
                <a16:creationId xmlns:a16="http://schemas.microsoft.com/office/drawing/2014/main" id="{82A26AC4-3993-05C0-025C-E018208634DF}"/>
              </a:ext>
            </a:extLst>
          </p:cNvPr>
          <p:cNvSpPr/>
          <p:nvPr/>
        </p:nvSpPr>
        <p:spPr>
          <a:xfrm>
            <a:off x="4175760" y="2752344"/>
            <a:ext cx="3566160" cy="1298448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C4D2D641-DD9D-864B-6998-7CB158F31E61}"/>
              </a:ext>
            </a:extLst>
          </p:cNvPr>
          <p:cNvSpPr/>
          <p:nvPr/>
        </p:nvSpPr>
        <p:spPr>
          <a:xfrm>
            <a:off x="4322064" y="2830068"/>
            <a:ext cx="393192" cy="393192"/>
          </a:xfrm>
          <a:prstGeom prst="ellipse">
            <a:avLst/>
          </a:prstGeom>
          <a:solidFill>
            <a:srgbClr val="E27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dirty="0"/>
          </a:p>
        </p:txBody>
      </p:sp>
      <p:sp>
        <p:nvSpPr>
          <p:cNvPr id="113" name="TextBox 40">
            <a:extLst>
              <a:ext uri="{FF2B5EF4-FFF2-40B4-BE49-F238E27FC236}">
                <a16:creationId xmlns:a16="http://schemas.microsoft.com/office/drawing/2014/main" id="{555E8B8B-A1A8-D7D0-AB94-AEE2376D38B8}"/>
              </a:ext>
            </a:extLst>
          </p:cNvPr>
          <p:cNvSpPr txBox="1"/>
          <p:nvPr/>
        </p:nvSpPr>
        <p:spPr>
          <a:xfrm>
            <a:off x="4322064" y="2967228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75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114" name="TextBox 41">
            <a:extLst>
              <a:ext uri="{FF2B5EF4-FFF2-40B4-BE49-F238E27FC236}">
                <a16:creationId xmlns:a16="http://schemas.microsoft.com/office/drawing/2014/main" id="{7CACF085-A623-2B6D-FA0A-9D8FA82F1813}"/>
              </a:ext>
            </a:extLst>
          </p:cNvPr>
          <p:cNvSpPr txBox="1"/>
          <p:nvPr/>
        </p:nvSpPr>
        <p:spPr>
          <a:xfrm>
            <a:off x="4815840" y="2916936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19" b="1">
                <a:solidFill>
                  <a:srgbClr val="0F313F"/>
                </a:solidFill>
                <a:latin typeface="Aptos"/>
              </a:rPr>
              <a:t>Poor Communication</a:t>
            </a:r>
          </a:p>
        </p:txBody>
      </p:sp>
      <p:cxnSp>
        <p:nvCxnSpPr>
          <p:cNvPr id="115" name="Connector 42">
            <a:extLst>
              <a:ext uri="{FF2B5EF4-FFF2-40B4-BE49-F238E27FC236}">
                <a16:creationId xmlns:a16="http://schemas.microsoft.com/office/drawing/2014/main" id="{D619F7B5-DF28-DA80-6F58-3BDCE42A07CD}"/>
              </a:ext>
            </a:extLst>
          </p:cNvPr>
          <p:cNvCxnSpPr/>
          <p:nvPr/>
        </p:nvCxnSpPr>
        <p:spPr>
          <a:xfrm>
            <a:off x="4331208" y="3300984"/>
            <a:ext cx="3255263" cy="0"/>
          </a:xfrm>
          <a:prstGeom prst="line">
            <a:avLst/>
          </a:prstGeom>
          <a:ln w="13970">
            <a:solidFill>
              <a:srgbClr val="E2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43">
            <a:extLst>
              <a:ext uri="{FF2B5EF4-FFF2-40B4-BE49-F238E27FC236}">
                <a16:creationId xmlns:a16="http://schemas.microsoft.com/office/drawing/2014/main" id="{EE9F3794-BC50-CDEC-C8ED-97B7F0C7EEF8}"/>
              </a:ext>
            </a:extLst>
          </p:cNvPr>
          <p:cNvSpPr txBox="1"/>
          <p:nvPr/>
        </p:nvSpPr>
        <p:spPr>
          <a:xfrm>
            <a:off x="4340352" y="3383280"/>
            <a:ext cx="3218688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>
                <a:solidFill>
                  <a:srgbClr val="374850"/>
                </a:solidFill>
                <a:latin typeface="Aptos"/>
              </a:rPr>
              <a:t>Patients are not proactively informed about appointment confirmations, reminders, reschedules or cancellations.</a:t>
            </a:r>
          </a:p>
        </p:txBody>
      </p:sp>
      <p:sp>
        <p:nvSpPr>
          <p:cNvPr id="117" name="TextBox 44">
            <a:extLst>
              <a:ext uri="{FF2B5EF4-FFF2-40B4-BE49-F238E27FC236}">
                <a16:creationId xmlns:a16="http://schemas.microsoft.com/office/drawing/2014/main" id="{13F45F78-1DA8-161A-E734-9F0C04913B4D}"/>
              </a:ext>
            </a:extLst>
          </p:cNvPr>
          <p:cNvSpPr txBox="1"/>
          <p:nvPr/>
        </p:nvSpPr>
        <p:spPr>
          <a:xfrm>
            <a:off x="4340352" y="3803904"/>
            <a:ext cx="32186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20" b="1">
                <a:solidFill>
                  <a:srgbClr val="E27D20"/>
                </a:solidFill>
                <a:latin typeface="Aptos"/>
              </a:rPr>
              <a:t>IMPACT  •  Important updates can be missed</a:t>
            </a:r>
          </a:p>
        </p:txBody>
      </p:sp>
      <p:sp>
        <p:nvSpPr>
          <p:cNvPr id="118" name="Rounded Rectangle 45">
            <a:extLst>
              <a:ext uri="{FF2B5EF4-FFF2-40B4-BE49-F238E27FC236}">
                <a16:creationId xmlns:a16="http://schemas.microsoft.com/office/drawing/2014/main" id="{6A3FD0FA-05EC-C100-F982-E8B1EF7BB597}"/>
              </a:ext>
            </a:extLst>
          </p:cNvPr>
          <p:cNvSpPr/>
          <p:nvPr/>
        </p:nvSpPr>
        <p:spPr>
          <a:xfrm>
            <a:off x="7879080" y="2752344"/>
            <a:ext cx="3566160" cy="1298448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C081FE0D-764B-2015-DB3E-323C5DF7BB4D}"/>
              </a:ext>
            </a:extLst>
          </p:cNvPr>
          <p:cNvSpPr/>
          <p:nvPr/>
        </p:nvSpPr>
        <p:spPr>
          <a:xfrm>
            <a:off x="8025384" y="2839213"/>
            <a:ext cx="393192" cy="393192"/>
          </a:xfrm>
          <a:prstGeom prst="ellipse">
            <a:avLst/>
          </a:prstGeom>
          <a:solidFill>
            <a:srgbClr val="0B6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20" name="TextBox 47">
            <a:extLst>
              <a:ext uri="{FF2B5EF4-FFF2-40B4-BE49-F238E27FC236}">
                <a16:creationId xmlns:a16="http://schemas.microsoft.com/office/drawing/2014/main" id="{88A377A8-C9C4-AE7F-8260-24B89DB1446F}"/>
              </a:ext>
            </a:extLst>
          </p:cNvPr>
          <p:cNvSpPr txBox="1"/>
          <p:nvPr/>
        </p:nvSpPr>
        <p:spPr>
          <a:xfrm>
            <a:off x="8025384" y="2967228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75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121" name="TextBox 48">
            <a:extLst>
              <a:ext uri="{FF2B5EF4-FFF2-40B4-BE49-F238E27FC236}">
                <a16:creationId xmlns:a16="http://schemas.microsoft.com/office/drawing/2014/main" id="{63AEE4B4-5CE5-FC3F-22CA-E5922EC38272}"/>
              </a:ext>
            </a:extLst>
          </p:cNvPr>
          <p:cNvSpPr txBox="1"/>
          <p:nvPr/>
        </p:nvSpPr>
        <p:spPr>
          <a:xfrm>
            <a:off x="8519159" y="2916936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19" b="1">
                <a:solidFill>
                  <a:srgbClr val="0F313F"/>
                </a:solidFill>
                <a:latin typeface="Aptos"/>
              </a:rPr>
              <a:t>Administrative Overhead</a:t>
            </a:r>
          </a:p>
        </p:txBody>
      </p:sp>
      <p:cxnSp>
        <p:nvCxnSpPr>
          <p:cNvPr id="122" name="Connector 49">
            <a:extLst>
              <a:ext uri="{FF2B5EF4-FFF2-40B4-BE49-F238E27FC236}">
                <a16:creationId xmlns:a16="http://schemas.microsoft.com/office/drawing/2014/main" id="{C5C627E1-D890-D3DB-CA89-4A0AA2492EC2}"/>
              </a:ext>
            </a:extLst>
          </p:cNvPr>
          <p:cNvCxnSpPr/>
          <p:nvPr/>
        </p:nvCxnSpPr>
        <p:spPr>
          <a:xfrm>
            <a:off x="8034528" y="3300984"/>
            <a:ext cx="3255264" cy="0"/>
          </a:xfrm>
          <a:prstGeom prst="line">
            <a:avLst/>
          </a:prstGeom>
          <a:ln w="13970">
            <a:solidFill>
              <a:srgbClr val="0B6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50">
            <a:extLst>
              <a:ext uri="{FF2B5EF4-FFF2-40B4-BE49-F238E27FC236}">
                <a16:creationId xmlns:a16="http://schemas.microsoft.com/office/drawing/2014/main" id="{2C8CD518-515D-9BEE-532F-641BBE76FCD4}"/>
              </a:ext>
            </a:extLst>
          </p:cNvPr>
          <p:cNvSpPr txBox="1"/>
          <p:nvPr/>
        </p:nvSpPr>
        <p:spPr>
          <a:xfrm>
            <a:off x="8043671" y="3383280"/>
            <a:ext cx="3218688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>
                <a:solidFill>
                  <a:srgbClr val="374850"/>
                </a:solidFill>
                <a:latin typeface="Aptos"/>
              </a:rPr>
              <a:t>Patient loads, staff information and operational statistics require repeated manual entry and compilation.</a:t>
            </a:r>
          </a:p>
        </p:txBody>
      </p:sp>
      <p:sp>
        <p:nvSpPr>
          <p:cNvPr id="124" name="TextBox 51">
            <a:extLst>
              <a:ext uri="{FF2B5EF4-FFF2-40B4-BE49-F238E27FC236}">
                <a16:creationId xmlns:a16="http://schemas.microsoft.com/office/drawing/2014/main" id="{52963C8A-CB01-FE98-BD41-5D573757F300}"/>
              </a:ext>
            </a:extLst>
          </p:cNvPr>
          <p:cNvSpPr txBox="1"/>
          <p:nvPr/>
        </p:nvSpPr>
        <p:spPr>
          <a:xfrm>
            <a:off x="8043671" y="3803904"/>
            <a:ext cx="32186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20" b="1">
                <a:solidFill>
                  <a:srgbClr val="0B697D"/>
                </a:solidFill>
                <a:latin typeface="Aptos"/>
              </a:rPr>
              <a:t>IMPACT  •  Management consumes unnecessary time</a:t>
            </a:r>
          </a:p>
        </p:txBody>
      </p:sp>
      <p:cxnSp>
        <p:nvCxnSpPr>
          <p:cNvPr id="125" name="Connector 52">
            <a:extLst>
              <a:ext uri="{FF2B5EF4-FFF2-40B4-BE49-F238E27FC236}">
                <a16:creationId xmlns:a16="http://schemas.microsoft.com/office/drawing/2014/main" id="{13777ADF-8F43-38FB-1FE0-4AF5CDD94EB9}"/>
              </a:ext>
            </a:extLst>
          </p:cNvPr>
          <p:cNvCxnSpPr/>
          <p:nvPr/>
        </p:nvCxnSpPr>
        <p:spPr>
          <a:xfrm>
            <a:off x="472440" y="4306824"/>
            <a:ext cx="4846320" cy="0"/>
          </a:xfrm>
          <a:prstGeom prst="line">
            <a:avLst/>
          </a:prstGeom>
          <a:ln w="10160">
            <a:solidFill>
              <a:srgbClr val="BED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53">
            <a:extLst>
              <a:ext uri="{FF2B5EF4-FFF2-40B4-BE49-F238E27FC236}">
                <a16:creationId xmlns:a16="http://schemas.microsoft.com/office/drawing/2014/main" id="{0DA25906-3253-55F9-0F57-90A006FCFE94}"/>
              </a:ext>
            </a:extLst>
          </p:cNvPr>
          <p:cNvCxnSpPr/>
          <p:nvPr/>
        </p:nvCxnSpPr>
        <p:spPr>
          <a:xfrm>
            <a:off x="6891528" y="4306824"/>
            <a:ext cx="4828032" cy="0"/>
          </a:xfrm>
          <a:prstGeom prst="line">
            <a:avLst/>
          </a:prstGeom>
          <a:ln w="10160">
            <a:solidFill>
              <a:srgbClr val="BED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54">
            <a:extLst>
              <a:ext uri="{FF2B5EF4-FFF2-40B4-BE49-F238E27FC236}">
                <a16:creationId xmlns:a16="http://schemas.microsoft.com/office/drawing/2014/main" id="{0D60BDF2-BDB2-EF9C-47F2-A37132C1D11F}"/>
              </a:ext>
            </a:extLst>
          </p:cNvPr>
          <p:cNvSpPr txBox="1"/>
          <p:nvPr/>
        </p:nvSpPr>
        <p:spPr>
          <a:xfrm>
            <a:off x="5364480" y="4169664"/>
            <a:ext cx="15361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950" b="1">
                <a:solidFill>
                  <a:srgbClr val="1289AE"/>
                </a:solidFill>
                <a:latin typeface="Aptos"/>
              </a:rPr>
              <a:t>CORE CHALLENGE</a:t>
            </a:r>
          </a:p>
        </p:txBody>
      </p:sp>
      <p:sp>
        <p:nvSpPr>
          <p:cNvPr id="128" name="Rounded Rectangle 55">
            <a:extLst>
              <a:ext uri="{FF2B5EF4-FFF2-40B4-BE49-F238E27FC236}">
                <a16:creationId xmlns:a16="http://schemas.microsoft.com/office/drawing/2014/main" id="{6DFB758C-D939-A07E-A6CC-AD34A6DE3C4F}"/>
              </a:ext>
            </a:extLst>
          </p:cNvPr>
          <p:cNvSpPr/>
          <p:nvPr/>
        </p:nvSpPr>
        <p:spPr>
          <a:xfrm>
            <a:off x="472440" y="4507992"/>
            <a:ext cx="11247120" cy="832104"/>
          </a:xfrm>
          <a:prstGeom prst="roundRect">
            <a:avLst/>
          </a:prstGeom>
          <a:solidFill>
            <a:srgbClr val="EEF7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3434F1BC-07B1-CC8C-7A1C-1713E67A0D47}"/>
              </a:ext>
            </a:extLst>
          </p:cNvPr>
          <p:cNvSpPr/>
          <p:nvPr/>
        </p:nvSpPr>
        <p:spPr>
          <a:xfrm>
            <a:off x="664464" y="4654296"/>
            <a:ext cx="420624" cy="420624"/>
          </a:xfrm>
          <a:prstGeom prst="ellipse">
            <a:avLst/>
          </a:prstGeom>
          <a:solidFill>
            <a:srgbClr val="1289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30" name="TextBox 57">
            <a:extLst>
              <a:ext uri="{FF2B5EF4-FFF2-40B4-BE49-F238E27FC236}">
                <a16:creationId xmlns:a16="http://schemas.microsoft.com/office/drawing/2014/main" id="{F77474ED-9FAE-4915-AF37-8B351840ADF2}"/>
              </a:ext>
            </a:extLst>
          </p:cNvPr>
          <p:cNvSpPr txBox="1"/>
          <p:nvPr/>
        </p:nvSpPr>
        <p:spPr>
          <a:xfrm>
            <a:off x="673608" y="4764024"/>
            <a:ext cx="4206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!</a:t>
            </a:r>
          </a:p>
        </p:txBody>
      </p:sp>
      <p:sp>
        <p:nvSpPr>
          <p:cNvPr id="131" name="TextBox 58">
            <a:extLst>
              <a:ext uri="{FF2B5EF4-FFF2-40B4-BE49-F238E27FC236}">
                <a16:creationId xmlns:a16="http://schemas.microsoft.com/office/drawing/2014/main" id="{56A641EF-9B90-C543-5552-872F56D19B33}"/>
              </a:ext>
            </a:extLst>
          </p:cNvPr>
          <p:cNvSpPr txBox="1"/>
          <p:nvPr/>
        </p:nvSpPr>
        <p:spPr>
          <a:xfrm>
            <a:off x="1249680" y="4626864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000" b="1" dirty="0">
                <a:solidFill>
                  <a:srgbClr val="0F313F"/>
                </a:solidFill>
                <a:latin typeface="Aptos"/>
              </a:rPr>
              <a:t>Current System Limitation</a:t>
            </a:r>
          </a:p>
        </p:txBody>
      </p:sp>
      <p:sp>
        <p:nvSpPr>
          <p:cNvPr id="132" name="TextBox 59">
            <a:extLst>
              <a:ext uri="{FF2B5EF4-FFF2-40B4-BE49-F238E27FC236}">
                <a16:creationId xmlns:a16="http://schemas.microsoft.com/office/drawing/2014/main" id="{702E5CD7-7547-8564-D2D4-500FFFA1E251}"/>
              </a:ext>
            </a:extLst>
          </p:cNvPr>
          <p:cNvSpPr txBox="1"/>
          <p:nvPr/>
        </p:nvSpPr>
        <p:spPr>
          <a:xfrm>
            <a:off x="3087624" y="4590288"/>
            <a:ext cx="8183879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0">
                <a:solidFill>
                  <a:srgbClr val="374850"/>
                </a:solidFill>
                <a:latin typeface="Aptos"/>
              </a:rPr>
              <a:t>The existing manual workflow makes hospital operations slower, less coordinated and more difficult to track, creating delays for patients and additional workload for staff.</a:t>
            </a:r>
          </a:p>
        </p:txBody>
      </p:sp>
      <p:sp>
        <p:nvSpPr>
          <p:cNvPr id="133" name="Rounded Rectangle 60">
            <a:extLst>
              <a:ext uri="{FF2B5EF4-FFF2-40B4-BE49-F238E27FC236}">
                <a16:creationId xmlns:a16="http://schemas.microsoft.com/office/drawing/2014/main" id="{E856E978-5C2B-4497-371E-42EB0EA78290}"/>
              </a:ext>
            </a:extLst>
          </p:cNvPr>
          <p:cNvSpPr/>
          <p:nvPr/>
        </p:nvSpPr>
        <p:spPr>
          <a:xfrm>
            <a:off x="478536" y="5522976"/>
            <a:ext cx="11247120" cy="566928"/>
          </a:xfrm>
          <a:prstGeom prst="roundRect">
            <a:avLst/>
          </a:prstGeom>
          <a:solidFill>
            <a:srgbClr val="F2F8FA"/>
          </a:solidFill>
          <a:ln w="10160">
            <a:solidFill>
              <a:srgbClr val="BE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4B400C24-D333-32A8-5564-01602AC72D15}"/>
              </a:ext>
            </a:extLst>
          </p:cNvPr>
          <p:cNvSpPr/>
          <p:nvPr/>
        </p:nvSpPr>
        <p:spPr>
          <a:xfrm>
            <a:off x="637032" y="5541264"/>
            <a:ext cx="384048" cy="384048"/>
          </a:xfrm>
          <a:prstGeom prst="ellipse">
            <a:avLst/>
          </a:prstGeom>
          <a:solidFill>
            <a:srgbClr val="0FAD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35" name="TextBox 62">
            <a:extLst>
              <a:ext uri="{FF2B5EF4-FFF2-40B4-BE49-F238E27FC236}">
                <a16:creationId xmlns:a16="http://schemas.microsoft.com/office/drawing/2014/main" id="{B3BC5326-E630-907C-3545-DE0DE1D04594}"/>
              </a:ext>
            </a:extLst>
          </p:cNvPr>
          <p:cNvSpPr txBox="1"/>
          <p:nvPr/>
        </p:nvSpPr>
        <p:spPr>
          <a:xfrm>
            <a:off x="637032" y="5650992"/>
            <a:ext cx="38404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6" name="TextBox 63">
            <a:extLst>
              <a:ext uri="{FF2B5EF4-FFF2-40B4-BE49-F238E27FC236}">
                <a16:creationId xmlns:a16="http://schemas.microsoft.com/office/drawing/2014/main" id="{3363805D-A09A-3569-5AD7-2E8C0DB16DA4}"/>
              </a:ext>
            </a:extLst>
          </p:cNvPr>
          <p:cNvSpPr txBox="1"/>
          <p:nvPr/>
        </p:nvSpPr>
        <p:spPr>
          <a:xfrm>
            <a:off x="1112520" y="565099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40" b="1">
                <a:solidFill>
                  <a:srgbClr val="1289AE"/>
                </a:solidFill>
                <a:latin typeface="Aptos"/>
              </a:rPr>
              <a:t>NEED FOR THE HMS</a:t>
            </a:r>
          </a:p>
        </p:txBody>
      </p:sp>
      <p:cxnSp>
        <p:nvCxnSpPr>
          <p:cNvPr id="137" name="Connector 64">
            <a:extLst>
              <a:ext uri="{FF2B5EF4-FFF2-40B4-BE49-F238E27FC236}">
                <a16:creationId xmlns:a16="http://schemas.microsoft.com/office/drawing/2014/main" id="{E781A7D1-A5C5-1ECE-C049-BDA6F1B76844}"/>
              </a:ext>
            </a:extLst>
          </p:cNvPr>
          <p:cNvCxnSpPr/>
          <p:nvPr/>
        </p:nvCxnSpPr>
        <p:spPr>
          <a:xfrm>
            <a:off x="2667000" y="5605272"/>
            <a:ext cx="0" cy="365760"/>
          </a:xfrm>
          <a:prstGeom prst="line">
            <a:avLst/>
          </a:prstGeom>
          <a:ln w="10160">
            <a:solidFill>
              <a:srgbClr val="BED7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65">
            <a:extLst>
              <a:ext uri="{FF2B5EF4-FFF2-40B4-BE49-F238E27FC236}">
                <a16:creationId xmlns:a16="http://schemas.microsoft.com/office/drawing/2014/main" id="{4BEEF7B2-1318-23F6-6B70-35CC3E8E00D5}"/>
              </a:ext>
            </a:extLst>
          </p:cNvPr>
          <p:cNvSpPr txBox="1"/>
          <p:nvPr/>
        </p:nvSpPr>
        <p:spPr>
          <a:xfrm>
            <a:off x="2849880" y="5596128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0">
                <a:solidFill>
                  <a:srgbClr val="374850"/>
                </a:solidFill>
                <a:latin typeface="Aptos"/>
              </a:rPr>
              <a:t>A centralized, role-based digital system for appointments, patient records, prescriptions, billing, communication and administration.</a:t>
            </a:r>
          </a:p>
        </p:txBody>
      </p:sp>
      <p:sp>
        <p:nvSpPr>
          <p:cNvPr id="139" name="TextBox 66">
            <a:extLst>
              <a:ext uri="{FF2B5EF4-FFF2-40B4-BE49-F238E27FC236}">
                <a16:creationId xmlns:a16="http://schemas.microsoft.com/office/drawing/2014/main" id="{10E1D884-C99E-EC07-90B0-02831D44DA0D}"/>
              </a:ext>
            </a:extLst>
          </p:cNvPr>
          <p:cNvSpPr txBox="1"/>
          <p:nvPr/>
        </p:nvSpPr>
        <p:spPr>
          <a:xfrm>
            <a:off x="472440" y="6501384"/>
            <a:ext cx="2560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50" b="0">
                <a:solidFill>
                  <a:srgbClr val="667981"/>
                </a:solidFill>
                <a:latin typeface="Aptos"/>
              </a:rPr>
              <a:t>Hospital Management System</a:t>
            </a:r>
          </a:p>
        </p:txBody>
      </p:sp>
      <p:sp>
        <p:nvSpPr>
          <p:cNvPr id="140" name="TextBox 67">
            <a:extLst>
              <a:ext uri="{FF2B5EF4-FFF2-40B4-BE49-F238E27FC236}">
                <a16:creationId xmlns:a16="http://schemas.microsoft.com/office/drawing/2014/main" id="{25A75962-F8E5-31AF-700C-C786432813D9}"/>
              </a:ext>
            </a:extLst>
          </p:cNvPr>
          <p:cNvSpPr txBox="1"/>
          <p:nvPr/>
        </p:nvSpPr>
        <p:spPr>
          <a:xfrm>
            <a:off x="11216640" y="6501384"/>
            <a:ext cx="411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sz="750" b="0">
                <a:solidFill>
                  <a:srgbClr val="667981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of the New System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1118585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manual, paper-based hospital record keeping with one centralized, role-based web application.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patients to self-register, book/cancel appointments online, and view their profile &amp; history digitally.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doctors a real-time appointment queue, availability management tools, and structured prescription authoring.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receptionists with front-desk tools for walk-in registration and appointment booking — without paperwork.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hospital administrators a single dashboard for staff onboarding, analytics, and account oversight.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double-booking of doctor time slots through database-level scheduling constraints.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every login, across every role, with two-step email OTP verification the Super Admin can switch on or off system-wide.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all four user roles through one shared, real-time in-app notification system.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an automatic billing record — including no-show fees — to every booked appointment.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BUILDING BLOCKS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Components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16152" y="1892808"/>
            <a:ext cx="640080" cy="64008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6" name="Image 0" descr="C:\Users\laksh\AppData\Local\Temp\claude\D--claude\d0701b1d-e099-4c13-83b8-30583566951a\scratchpad\hms_ppt\icons\out\ke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771" y="2046427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6751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authentication core — one custom User model shared by every portal (email login, role field, OTP fields).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274320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6432" y="1892808"/>
            <a:ext cx="640080" cy="64008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11" name="Image 1" descr="C:\Users\laksh\AppData\Local\Temp\claude\D--claude\d0701b1d-e099-4c13-83b8-30583566951a\scratchpad\hms_ppt\icons\out\user_patien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0051" y="2046427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83464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290779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website &amp; patient self-service portal — registration, profile, appointment booking, notifications.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498348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696712" y="1892808"/>
            <a:ext cx="640080" cy="64008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6" name="Image 2" descr="C:\Users\laksh\AppData\Local\Temp\claude\D--claude\d0701b1d-e099-4c13-83b8-30583566951a\scratchpad\hms_ppt\icons\out\stethoscope_073B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0331" y="2046427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7492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14807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Doctor's clinical workspace — dashboard, appointment queue, prescription authoring, availability management.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722376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936992" y="1892808"/>
            <a:ext cx="640080" cy="64008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21" name="Image 3" descr="C:\Users\laksh\AppData\Local\Temp\claude\D--claude\d0701b1d-e099-4c13-83b8-30583566951a\scratchpad\hms_ppt\icons\out\user_receptionis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0611" y="2046427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38835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Front-desk operations — walk-in patient registration, appointment booking/confirmation, doctor directory.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946404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0177272" y="1892808"/>
            <a:ext cx="640080" cy="640080"/>
          </a:xfrm>
          <a:prstGeom prst="ellipse">
            <a:avLst/>
          </a:prstGeom>
          <a:solidFill>
            <a:srgbClr val="0A5C6B"/>
          </a:solidFill>
          <a:ln/>
        </p:spPr>
      </p:sp>
      <p:pic>
        <p:nvPicPr>
          <p:cNvPr id="26" name="Image 4" descr="C:\Users\laksh\AppData\Local\Temp\claude\D--claude\d0701b1d-e099-4c13-83b8-30583566951a\scratchpad\hms_ppt\icons\out\user_admi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0891" y="2046427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55548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adminpanel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962863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Administrative control centre — analytics dashboard, staff onboarding, billing oversight, a two-step OTP toggle, and account control.</a:t>
            </a:r>
            <a:endParaRPr lang="en-US" sz="1080" dirty="0"/>
          </a:p>
        </p:txBody>
      </p:sp>
      <p:sp>
        <p:nvSpPr>
          <p:cNvPr id="29" name="Text 22"/>
          <p:cNvSpPr/>
          <p:nvPr/>
        </p:nvSpPr>
        <p:spPr>
          <a:xfrm>
            <a:off x="502920" y="548640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component: a single Notification model, fed via a per-app context processor, powers a live notification bell across all four portals.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Profile</a:t>
            </a:r>
            <a:endParaRPr lang="en-US" sz="2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5893154"/>
              </p:ext>
            </p:extLst>
          </p:nvPr>
        </p:nvGraphicFramePr>
        <p:xfrm>
          <a:off x="502920" y="1508760"/>
          <a:ext cx="11185855" cy="4672584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940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Hospital Management System (HMS)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Web-Based Application — Healthcare / Hospital Administration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Front-End Technology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HTML5, CSS3, JavaScript (server-rendered, per-page stylesheets)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Back-End 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3, Django 6.1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MYSQL 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Libraries /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Pillow, WhiteNoise, python-decouple, Gunicorn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Server-rendered monolith (no REST API / SPA framework)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LAKSHIT SUTHAR,NIRMEET MAKWANA,PRINSI TRAPASIYA 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Enrollment No.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25004401110226, 25004401110192, 25004401110211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MCA SEM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 AJAY CHAUHAN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LJ UNIVERSITY 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Academic Year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 of the New System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databas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Centralization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of truth for patient, doctor and appointment data instead of scattered paper registers.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0624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78308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1" name="Image 1" descr="C:\Users\laksh\AppData\Local\Temp\claude\D--claude\d0701b1d-e099-4c13-83b8-30583566951a\scratchpad\hms_ppt\icons\out\globe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14" y="19147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43484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can book and track appointments anytime, without visiting or calling the hospital.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90956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38160" y="178308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6" name="Image 2" descr="C:\Users\laksh\AppData\Local\Temp\claude\D--claude\d0701b1d-e099-4c13-83b8-30583566951a\scratchpad\hms_ppt\icons\out\check_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9834" y="19147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2396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13816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Database-enforced constraints prevent double-booked time slots — a common manual scheduling error.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0292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21" name="Image 3" descr="C:\Users\laksh\AppData\Local\Temp\claude\D--claude\d0701b1d-e099-4c13-83b8-30583566951a\scratchpad\hms_ppt\icons\out\bol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4" y="41550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Front-desk staff register walk-ins and book appointments in seconds instead of manual filing.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20624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34840" y="402336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26" name="Image 4" descr="C:\Users\laksh\AppData\Local\Temp\claude\D--claude\d0701b1d-e099-4c13-83b8-30583566951a\scratchpad\hms_ppt\icons\out\shield_check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6514" y="41550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2064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43484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account, across every role, can be protected by two-step email OTP verification, with an on/off switch for the Super Admin.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790956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138160" y="402336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31" name="Image 5" descr="C:\Users\laksh\AppData\Local\Temp\claude\D--claude\d0701b1d-e099-4c13-83b8-30583566951a\scratchpad\hms_ppt\icons\out\chart_bar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9834" y="41550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2396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13816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Administrators get a real-time, data-backed view of hospital activity instead of periodic manual reports.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of the New System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06D6A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Scope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5B6F75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(Current Version)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for 4 user types: Patient, Doctor, Receptionist, Admin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self-registration with email OTP verification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booking, confirmation, cancellation &amp; conflict-free scheduling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availability &amp; blocked-date management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prescription authoring with multi-medicine entries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in-app notifications across all portals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analytics dashboard &amp; staff onboarding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marketing site: About, Services, Departments, Doctor Directory, Contact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tied to appointment booking, including no-show fees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OTP login the Super Admin can switch on or off system-wide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 gateway integration (bills are settled at the front desk for now)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 processing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/ diagnostic report management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inventory management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application (Android / iOS)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consultation / telemedicine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SMS-based notifications (email only, in current version)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&amp; Limitations of the Proposed System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06D6A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EF476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duplicate / lost patient records via centralized digital storage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appointment double-booking through DB-level unique constraints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receptionist workload with self-service patient booking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email OTP login secures every role, with an on/off switch for the Super Admin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 give management instant operational visibility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on open-source technology — cost-effective to run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is tied automatically to appointment booking, including no-show fees</a:t>
            </a:r>
            <a:endParaRPr lang="en-US" sz="128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Forgot-password flow is UI-only — no backend reset logic implemented yet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production file-storage backend yet for uploaded images (needs e.g. S3)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online payment gateway yet — bills are settled at the front desk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test suite exists in the repository at this time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limited to email &amp; in-app alerts — no SMS/push channel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SCHEDULE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Timeline Chart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3703320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703320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01866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01866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0411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00411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8957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98957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7502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897502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96048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96048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94593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494593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93139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293139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1684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W9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091684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90230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890230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688775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1481328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1481328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Gathering &amp; Analysis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03320" y="1531620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" y="1933956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(Architecture, ERD, UI)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01866" y="1984248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73B4C"/>
          </a:solidFill>
          <a:ln/>
        </p:spPr>
      </p:sp>
      <p:sp>
        <p:nvSpPr>
          <p:cNvPr id="30" name="Shape 28"/>
          <p:cNvSpPr/>
          <p:nvPr/>
        </p:nvSpPr>
        <p:spPr>
          <a:xfrm>
            <a:off x="502920" y="2386584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2386584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&amp; Setup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300411" y="2436876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6D6A0"/>
          </a:solidFill>
          <a:ln/>
        </p:spPr>
      </p:sp>
      <p:sp>
        <p:nvSpPr>
          <p:cNvPr id="33" name="Text 31"/>
          <p:cNvSpPr/>
          <p:nvPr/>
        </p:nvSpPr>
        <p:spPr>
          <a:xfrm>
            <a:off x="594360" y="2839212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Patient Portal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098957" y="2889504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35" name="Shape 33"/>
          <p:cNvSpPr/>
          <p:nvPr/>
        </p:nvSpPr>
        <p:spPr>
          <a:xfrm>
            <a:off x="502920" y="3291840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36" name="Text 34"/>
          <p:cNvSpPr/>
          <p:nvPr/>
        </p:nvSpPr>
        <p:spPr>
          <a:xfrm>
            <a:off x="594360" y="3291840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Doctor Portal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897502" y="3342132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73B4C"/>
          </a:solidFill>
          <a:ln/>
        </p:spPr>
      </p:sp>
      <p:sp>
        <p:nvSpPr>
          <p:cNvPr id="38" name="Text 36"/>
          <p:cNvSpPr/>
          <p:nvPr/>
        </p:nvSpPr>
        <p:spPr>
          <a:xfrm>
            <a:off x="594360" y="3744468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Receptionist Portal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696048" y="3794760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6D6A0"/>
          </a:solidFill>
          <a:ln/>
        </p:spPr>
      </p:sp>
      <p:sp>
        <p:nvSpPr>
          <p:cNvPr id="40" name="Shape 38"/>
          <p:cNvSpPr/>
          <p:nvPr/>
        </p:nvSpPr>
        <p:spPr>
          <a:xfrm>
            <a:off x="502920" y="4197096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41" name="Text 39"/>
          <p:cNvSpPr/>
          <p:nvPr/>
        </p:nvSpPr>
        <p:spPr>
          <a:xfrm>
            <a:off x="594360" y="4197096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Admin Portal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494593" y="4247388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43" name="Text 41"/>
          <p:cNvSpPr/>
          <p:nvPr/>
        </p:nvSpPr>
        <p:spPr>
          <a:xfrm>
            <a:off x="594360" y="4649724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OTP Integration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293139" y="4700016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73B4C"/>
          </a:solidFill>
          <a:ln/>
        </p:spPr>
      </p:sp>
      <p:sp>
        <p:nvSpPr>
          <p:cNvPr id="45" name="Shape 43"/>
          <p:cNvSpPr/>
          <p:nvPr/>
        </p:nvSpPr>
        <p:spPr>
          <a:xfrm>
            <a:off x="502920" y="5102352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" y="5102352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Bug Fixing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10091684" y="5152644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EF476F"/>
          </a:solidFill>
          <a:ln/>
        </p:spPr>
      </p:sp>
      <p:sp>
        <p:nvSpPr>
          <p:cNvPr id="48" name="Text 46"/>
          <p:cNvSpPr/>
          <p:nvPr/>
        </p:nvSpPr>
        <p:spPr>
          <a:xfrm>
            <a:off x="594360" y="5554980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Documentation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10890230" y="5605272"/>
            <a:ext cx="479127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50" name="Text 48"/>
          <p:cNvSpPr/>
          <p:nvPr/>
        </p:nvSpPr>
        <p:spPr>
          <a:xfrm>
            <a:off x="502920" y="6144768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~10-week SDLC schedule (Waterfall-style phases with slight overlap for iterative refinement).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THE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Targeted Users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764792"/>
            <a:ext cx="658368" cy="658368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user_patien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96" y="1922800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645920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566160" y="1645920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appointments, manage own profile &amp; medical info, track appointment status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01000" y="1645920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site, self-registration, booking, notifications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2779776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4088" y="2990088"/>
            <a:ext cx="658368" cy="658368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2" name="Image 1" descr="C:\Users\laksh\AppData\Local\Temp\claude\D--claude\d0701b1d-e099-4c13-83b8-30583566951a\scratchpad\hms_ppt\icons\out\user_doctor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096" y="3148096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2871216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566160" y="2871216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daily appointment queue, author prescriptions, control own availability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8001000" y="2871216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appointment queue, prescriptions, schedule editor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02920" y="4005072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04088" y="4215384"/>
            <a:ext cx="658368" cy="658368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8" name="Image 2" descr="C:\Users\laksh\AppData\Local\Temp\claude\D--claude\d0701b1d-e099-4c13-83b8-30583566951a\scratchpad\hms_ppt\icons\out\user_receptionis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96" y="4373392"/>
            <a:ext cx="342351" cy="34235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54480" y="4096512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3566160" y="4096512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walk-in patients quickly, book on a patient’s behalf, check doctor availability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001000" y="4096512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registration, booking/confirmation, doctor directory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02920" y="5230368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04088" y="5440680"/>
            <a:ext cx="658368" cy="658368"/>
          </a:xfrm>
          <a:prstGeom prst="ellipse">
            <a:avLst/>
          </a:prstGeom>
          <a:solidFill>
            <a:srgbClr val="0A5C6B"/>
          </a:solidFill>
          <a:ln/>
        </p:spPr>
      </p:sp>
      <p:pic>
        <p:nvPicPr>
          <p:cNvPr id="24" name="Image 3" descr="C:\Users\laksh\AppData\Local\Temp\claude\D--claude\d0701b1d-e099-4c13-83b8-30583566951a\scratchpad\hms_ppt\icons\out\user_admin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96" y="5598688"/>
            <a:ext cx="342351" cy="34235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554480" y="5321808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3566160" y="5321808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 hospital-wide operations, onboard staff, control account access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8001000" y="5321808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dashboard, staff onboarding, account status control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clipboard_li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Determination &amp; Analysis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4251960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Studying stakeholder needs and translating them into concrete, testable system requirements.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Determination and Analysis</a:t>
            </a:r>
            <a:endParaRPr lang="en-US" sz="2900" dirty="0"/>
          </a:p>
        </p:txBody>
      </p:sp>
      <p:sp>
        <p:nvSpPr>
          <p:cNvPr id="7" name="Card 7"/>
          <p:cNvSpPr/>
          <p:nvPr/>
        </p:nvSpPr>
        <p:spPr>
          <a:xfrm rot="420000">
            <a:off x="8500000" y="300000"/>
            <a:ext cx="2900000" cy="1000000"/>
          </a:xfrm>
          <a:prstGeom prst="roundRect">
            <a:avLst>
              <a:gd name="adj" fmla="val 1500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8" name="Circle 8"/>
          <p:cNvSpPr/>
          <p:nvPr/>
        </p:nvSpPr>
        <p:spPr>
          <a:xfrm>
            <a:off x="9700000" y="430000"/>
            <a:ext cx="680000" cy="68000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9" name="Icon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0000" y="620000"/>
            <a:ext cx="300000" cy="300000"/>
          </a:xfrm>
          <a:prstGeom prst="rect">
            <a:avLst/>
          </a:prstGeom>
        </p:spPr>
      </p:pic>
      <p:sp>
        <p:nvSpPr>
          <p:cNvPr id="10" name="Circle 10"/>
          <p:cNvSpPr/>
          <p:nvPr/>
        </p:nvSpPr>
        <p:spPr>
          <a:xfrm>
            <a:off x="9300000" y="850000"/>
            <a:ext cx="420000" cy="42000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11" name="Icon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5000" y="965000"/>
            <a:ext cx="190000" cy="190000"/>
          </a:xfrm>
          <a:prstGeom prst="rect">
            <a:avLst/>
          </a:prstGeom>
        </p:spPr>
      </p:pic>
      <p:sp>
        <p:nvSpPr>
          <p:cNvPr id="12" name="Circle 12"/>
          <p:cNvSpPr/>
          <p:nvPr/>
        </p:nvSpPr>
        <p:spPr>
          <a:xfrm>
            <a:off x="10450000" y="300000"/>
            <a:ext cx="300000" cy="30000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3" name="Icon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7500" y="367500"/>
            <a:ext cx="165000" cy="165000"/>
          </a:xfrm>
          <a:prstGeom prst="rect">
            <a:avLst/>
          </a:prstGeom>
        </p:spPr>
      </p:pic>
      <p:sp>
        <p:nvSpPr>
          <p:cNvPr id="14" name="Circle 14"/>
          <p:cNvSpPr/>
          <p:nvPr/>
        </p:nvSpPr>
        <p:spPr>
          <a:xfrm>
            <a:off x="502920" y="1380000"/>
            <a:ext cx="300000" cy="30000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15" name="Icon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920" y="1446000"/>
            <a:ext cx="168000" cy="168000"/>
          </a:xfrm>
          <a:prstGeom prst="rect">
            <a:avLst/>
          </a:prstGeom>
        </p:spPr>
      </p:pic>
      <p:sp>
        <p:nvSpPr>
          <p:cNvPr id="16" name="Text 16"/>
          <p:cNvSpPr/>
          <p:nvPr/>
        </p:nvSpPr>
        <p:spPr>
          <a:xfrm>
            <a:off x="932920" y="1365000"/>
            <a:ext cx="10755855" cy="3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 </a:t>
            </a:r>
            <a:r>
              <a:rPr lang="en-US" sz="11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precisely understand what patients, doctors, receptionists and hospital administrators actually need, before any design or coding begins.</a:t>
            </a:r>
            <a:endParaRPr lang="en-US" sz="1150" dirty="0"/>
          </a:p>
        </p:txBody>
      </p:sp>
      <p:sp>
        <p:nvSpPr>
          <p:cNvPr id="17" name="Circle 17"/>
          <p:cNvSpPr/>
          <p:nvPr/>
        </p:nvSpPr>
        <p:spPr>
          <a:xfrm>
            <a:off x="502920" y="1730000"/>
            <a:ext cx="300000" cy="30000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18" name="Icon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920" y="1796000"/>
            <a:ext cx="168000" cy="168000"/>
          </a:xfrm>
          <a:prstGeom prst="rect">
            <a:avLst/>
          </a:prstGeom>
        </p:spPr>
      </p:pic>
      <p:sp>
        <p:nvSpPr>
          <p:cNvPr id="19" name="Text 19"/>
          <p:cNvSpPr/>
          <p:nvPr/>
        </p:nvSpPr>
        <p:spPr>
          <a:xfrm>
            <a:off x="932920" y="1715000"/>
            <a:ext cx="10755855" cy="3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Determination:  </a:t>
            </a:r>
            <a:r>
              <a:rPr lang="en-US" sz="11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fact-finding stage — gathering raw information about existing (manual) workflows, pain points, and stakeholder expectations.</a:t>
            </a:r>
            <a:endParaRPr lang="en-US" sz="1150" dirty="0"/>
          </a:p>
        </p:txBody>
      </p:sp>
      <p:sp>
        <p:nvSpPr>
          <p:cNvPr id="20" name="Circle 20"/>
          <p:cNvSpPr/>
          <p:nvPr/>
        </p:nvSpPr>
        <p:spPr>
          <a:xfrm>
            <a:off x="502920" y="2080000"/>
            <a:ext cx="300000" cy="30000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21" name="Icon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920" y="2146000"/>
            <a:ext cx="168000" cy="168000"/>
          </a:xfrm>
          <a:prstGeom prst="rect">
            <a:avLst/>
          </a:prstGeom>
        </p:spPr>
      </p:pic>
      <p:sp>
        <p:nvSpPr>
          <p:cNvPr id="22" name="Text 22"/>
          <p:cNvSpPr/>
          <p:nvPr/>
        </p:nvSpPr>
        <p:spPr>
          <a:xfrm>
            <a:off x="932920" y="2065000"/>
            <a:ext cx="10755855" cy="3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Analysis:  </a:t>
            </a:r>
            <a:r>
              <a:rPr lang="en-US" sz="11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and refining the gathered facts into a consistent, non-conflicting picture of what the new system must do.</a:t>
            </a:r>
            <a:endParaRPr lang="en-US" sz="1150" dirty="0"/>
          </a:p>
        </p:txBody>
      </p:sp>
      <p:sp>
        <p:nvSpPr>
          <p:cNvPr id="23" name="Circle 23"/>
          <p:cNvSpPr/>
          <p:nvPr/>
        </p:nvSpPr>
        <p:spPr>
          <a:xfrm>
            <a:off x="502920" y="2430000"/>
            <a:ext cx="300000" cy="30000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24" name="Icon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920" y="2496000"/>
            <a:ext cx="168000" cy="168000"/>
          </a:xfrm>
          <a:prstGeom prst="rect">
            <a:avLst/>
          </a:prstGeom>
        </p:spPr>
      </p:pic>
      <p:sp>
        <p:nvSpPr>
          <p:cNvPr id="25" name="Text 25"/>
          <p:cNvSpPr/>
          <p:nvPr/>
        </p:nvSpPr>
        <p:spPr>
          <a:xfrm>
            <a:off x="932920" y="2415000"/>
            <a:ext cx="10755855" cy="3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Specification:  </a:t>
            </a:r>
            <a:r>
              <a:rPr lang="en-US" sz="11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formally documenting the analyzed requirements as functional and non-functional requirements that guide design and testing.</a:t>
            </a:r>
            <a:endParaRPr lang="en-US" sz="1150" dirty="0"/>
          </a:p>
        </p:txBody>
      </p:sp>
      <p:sp>
        <p:nvSpPr>
          <p:cNvPr id="26" name="Circle 26"/>
          <p:cNvSpPr/>
          <p:nvPr/>
        </p:nvSpPr>
        <p:spPr>
          <a:xfrm>
            <a:off x="502920" y="2780000"/>
            <a:ext cx="300000" cy="30000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27" name="Icon 2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8920" y="2846000"/>
            <a:ext cx="168000" cy="168000"/>
          </a:xfrm>
          <a:prstGeom prst="rect">
            <a:avLst/>
          </a:prstGeom>
        </p:spPr>
      </p:pic>
      <p:sp>
        <p:nvSpPr>
          <p:cNvPr id="28" name="Text 28"/>
          <p:cNvSpPr/>
          <p:nvPr/>
        </p:nvSpPr>
        <p:spPr>
          <a:xfrm>
            <a:off x="932920" y="2765000"/>
            <a:ext cx="10755855" cy="3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 </a:t>
            </a:r>
            <a:r>
              <a:rPr lang="en-US" sz="11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clear, agreed scope (see Scope of the New System) and a testable requirement list that the delivered HMS application is measured against.</a:t>
            </a:r>
            <a:endParaRPr lang="en-US" sz="1150" dirty="0"/>
          </a:p>
        </p:txBody>
      </p:sp>
      <p:sp>
        <p:nvSpPr>
          <p:cNvPr id="29" name="Line 29"/>
          <p:cNvSpPr/>
          <p:nvPr/>
        </p:nvSpPr>
        <p:spPr>
          <a:xfrm>
            <a:off x="502920" y="3350000"/>
            <a:ext cx="3643080" cy="0"/>
          </a:xfrm>
          <a:prstGeom prst="line">
            <a:avLst/>
          </a:prstGeom>
          <a:noFill/>
          <a:ln w="9525">
            <a:solidFill>
              <a:srgbClr val="118AB2"/>
            </a:solidFill>
            <a:prstDash val="sysDot"/>
          </a:ln>
        </p:spPr>
      </p:sp>
      <p:sp>
        <p:nvSpPr>
          <p:cNvPr id="30" name="Line 30"/>
          <p:cNvSpPr/>
          <p:nvPr/>
        </p:nvSpPr>
        <p:spPr>
          <a:xfrm>
            <a:off x="8046000" y="3350000"/>
            <a:ext cx="3642775" cy="0"/>
          </a:xfrm>
          <a:prstGeom prst="line">
            <a:avLst/>
          </a:prstGeom>
          <a:noFill/>
          <a:ln w="9525">
            <a:solidFill>
              <a:srgbClr val="118AB2"/>
            </a:solidFill>
            <a:prstDash val="sysDot"/>
          </a:ln>
        </p:spPr>
      </p:sp>
      <p:sp>
        <p:nvSpPr>
          <p:cNvPr id="31" name="Text 31"/>
          <p:cNvSpPr/>
          <p:nvPr/>
        </p:nvSpPr>
        <p:spPr>
          <a:xfrm>
            <a:off x="4296000" y="3220000"/>
            <a:ext cx="3600000" cy="2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STAKEHOLDER REQUIREMENTS</a:t>
            </a:r>
            <a:endParaRPr lang="en-US" sz="1100" dirty="0"/>
          </a:p>
        </p:txBody>
      </p:sp>
      <p:sp>
        <p:nvSpPr>
          <p:cNvPr id="32" name="Card 32"/>
          <p:cNvSpPr/>
          <p:nvPr/>
        </p:nvSpPr>
        <p:spPr>
          <a:xfrm>
            <a:off x="502920" y="3590000"/>
            <a:ext cx="2676448" cy="2050000"/>
          </a:xfrm>
          <a:prstGeom prst="roundRect">
            <a:avLst>
              <a:gd name="adj" fmla="val 5500"/>
            </a:avLst>
          </a:prstGeom>
          <a:solidFill>
            <a:srgbClr val="EBF4F8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3" name="Circle 33"/>
          <p:cNvSpPr/>
          <p:nvPr/>
        </p:nvSpPr>
        <p:spPr>
          <a:xfrm>
            <a:off x="652920" y="3740000"/>
            <a:ext cx="460000" cy="46000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34" name="Icon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920" y="3840000"/>
            <a:ext cx="260000" cy="260000"/>
          </a:xfrm>
          <a:prstGeom prst="rect">
            <a:avLst/>
          </a:prstGeom>
        </p:spPr>
      </p:pic>
      <p:sp>
        <p:nvSpPr>
          <p:cNvPr id="35" name="Text 35"/>
          <p:cNvSpPr/>
          <p:nvPr/>
        </p:nvSpPr>
        <p:spPr>
          <a:xfrm>
            <a:off x="1232920" y="3740000"/>
            <a:ext cx="1846448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300" dirty="0"/>
          </a:p>
        </p:txBody>
      </p:sp>
      <p:sp>
        <p:nvSpPr>
          <p:cNvPr id="36" name="Bar 36"/>
          <p:cNvSpPr/>
          <p:nvPr/>
        </p:nvSpPr>
        <p:spPr>
          <a:xfrm>
            <a:off x="652920" y="4245000"/>
            <a:ext cx="2376448" cy="22860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37" name="Text 37"/>
          <p:cNvSpPr/>
          <p:nvPr/>
        </p:nvSpPr>
        <p:spPr>
          <a:xfrm>
            <a:off x="652920" y="4337860"/>
            <a:ext cx="2376448" cy="1242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and manage profile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appointments with doctors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appointment status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authorized medical records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prescriptions and lab reports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and pay bills online</a:t>
            </a:r>
            <a:endParaRPr lang="en-US" sz="1000" dirty="0"/>
          </a:p>
        </p:txBody>
      </p:sp>
      <p:sp>
        <p:nvSpPr>
          <p:cNvPr id="38" name="Card 38"/>
          <p:cNvSpPr/>
          <p:nvPr/>
        </p:nvSpPr>
        <p:spPr>
          <a:xfrm>
            <a:off x="3339388" y="3590000"/>
            <a:ext cx="2676448" cy="2050000"/>
          </a:xfrm>
          <a:prstGeom prst="roundRect">
            <a:avLst>
              <a:gd name="adj" fmla="val 5500"/>
            </a:avLst>
          </a:prstGeom>
          <a:solidFill>
            <a:srgbClr val="EAFB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9" name="Circle 39"/>
          <p:cNvSpPr/>
          <p:nvPr/>
        </p:nvSpPr>
        <p:spPr>
          <a:xfrm>
            <a:off x="3489388" y="3740000"/>
            <a:ext cx="460000" cy="46000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40" name="Icon 4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89388" y="3840000"/>
            <a:ext cx="260000" cy="260000"/>
          </a:xfrm>
          <a:prstGeom prst="rect">
            <a:avLst/>
          </a:prstGeom>
        </p:spPr>
      </p:pic>
      <p:sp>
        <p:nvSpPr>
          <p:cNvPr id="41" name="Text 41"/>
          <p:cNvSpPr/>
          <p:nvPr/>
        </p:nvSpPr>
        <p:spPr>
          <a:xfrm>
            <a:off x="4069388" y="3740000"/>
            <a:ext cx="1846448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300" dirty="0"/>
          </a:p>
        </p:txBody>
      </p:sp>
      <p:sp>
        <p:nvSpPr>
          <p:cNvPr id="42" name="Bar 42"/>
          <p:cNvSpPr/>
          <p:nvPr/>
        </p:nvSpPr>
        <p:spPr>
          <a:xfrm>
            <a:off x="3489388" y="4245000"/>
            <a:ext cx="2376448" cy="2286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43" name="Text 43"/>
          <p:cNvSpPr/>
          <p:nvPr/>
        </p:nvSpPr>
        <p:spPr>
          <a:xfrm>
            <a:off x="3489388" y="4337860"/>
            <a:ext cx="2376448" cy="1242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today's and scheduled appointments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authorized patient information and history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prescriptions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medical information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availability schedule</a:t>
            </a:r>
            <a:endParaRPr lang="en-US" sz="1000" dirty="0"/>
          </a:p>
        </p:txBody>
      </p:sp>
      <p:sp>
        <p:nvSpPr>
          <p:cNvPr id="44" name="Card 44"/>
          <p:cNvSpPr/>
          <p:nvPr/>
        </p:nvSpPr>
        <p:spPr>
          <a:xfrm>
            <a:off x="6175856" y="3590000"/>
            <a:ext cx="2676448" cy="2050000"/>
          </a:xfrm>
          <a:prstGeom prst="roundRect">
            <a:avLst>
              <a:gd name="adj" fmla="val 5500"/>
            </a:avLst>
          </a:prstGeom>
          <a:solidFill>
            <a:srgbClr val="FDEAE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5" name="Circle 45"/>
          <p:cNvSpPr/>
          <p:nvPr/>
        </p:nvSpPr>
        <p:spPr>
          <a:xfrm>
            <a:off x="6325856" y="3740000"/>
            <a:ext cx="460000" cy="46000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46" name="Icon 4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5856" y="3840000"/>
            <a:ext cx="260000" cy="260000"/>
          </a:xfrm>
          <a:prstGeom prst="rect">
            <a:avLst/>
          </a:prstGeom>
        </p:spPr>
      </p:pic>
      <p:sp>
        <p:nvSpPr>
          <p:cNvPr id="47" name="Text 47"/>
          <p:cNvSpPr/>
          <p:nvPr/>
        </p:nvSpPr>
        <p:spPr>
          <a:xfrm>
            <a:off x="6905856" y="3740000"/>
            <a:ext cx="1846448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300" dirty="0"/>
          </a:p>
        </p:txBody>
      </p:sp>
      <p:sp>
        <p:nvSpPr>
          <p:cNvPr id="48" name="Bar 48"/>
          <p:cNvSpPr/>
          <p:nvPr/>
        </p:nvSpPr>
        <p:spPr>
          <a:xfrm>
            <a:off x="6325856" y="4245000"/>
            <a:ext cx="2376448" cy="22860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49" name="Text 49"/>
          <p:cNvSpPr/>
          <p:nvPr/>
        </p:nvSpPr>
        <p:spPr>
          <a:xfrm>
            <a:off x="6325856" y="4337860"/>
            <a:ext cx="2376448" cy="1242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new patients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appointments and reschedules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and manage bills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payments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general assistance to patients</a:t>
            </a:r>
            <a:endParaRPr lang="en-US" sz="1000" dirty="0"/>
          </a:p>
        </p:txBody>
      </p:sp>
      <p:sp>
        <p:nvSpPr>
          <p:cNvPr id="50" name="Card 50"/>
          <p:cNvSpPr/>
          <p:nvPr/>
        </p:nvSpPr>
        <p:spPr>
          <a:xfrm>
            <a:off x="9012324" y="3590000"/>
            <a:ext cx="2676448" cy="2050000"/>
          </a:xfrm>
          <a:prstGeom prst="roundRect">
            <a:avLst>
              <a:gd name="adj" fmla="val 5500"/>
            </a:avLst>
          </a:prstGeom>
          <a:solidFill>
            <a:srgbClr val="E7F0F1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1" name="Circle 51"/>
          <p:cNvSpPr/>
          <p:nvPr/>
        </p:nvSpPr>
        <p:spPr>
          <a:xfrm>
            <a:off x="9162324" y="3740000"/>
            <a:ext cx="460000" cy="460000"/>
          </a:xfrm>
          <a:prstGeom prst="ellipse">
            <a:avLst/>
          </a:prstGeom>
          <a:solidFill>
            <a:srgbClr val="0A5C6B"/>
          </a:solidFill>
          <a:ln/>
        </p:spPr>
      </p:sp>
      <p:pic>
        <p:nvPicPr>
          <p:cNvPr id="52" name="Icon 5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62324" y="3840000"/>
            <a:ext cx="260000" cy="260000"/>
          </a:xfrm>
          <a:prstGeom prst="rect">
            <a:avLst/>
          </a:prstGeom>
        </p:spPr>
      </p:pic>
      <p:sp>
        <p:nvSpPr>
          <p:cNvPr id="53" name="Text 53"/>
          <p:cNvSpPr/>
          <p:nvPr/>
        </p:nvSpPr>
        <p:spPr>
          <a:xfrm>
            <a:off x="9742324" y="3740000"/>
            <a:ext cx="1846448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54" name="Bar 54"/>
          <p:cNvSpPr/>
          <p:nvPr/>
        </p:nvSpPr>
        <p:spPr>
          <a:xfrm>
            <a:off x="9162324" y="4245000"/>
            <a:ext cx="2376448" cy="22860"/>
          </a:xfrm>
          <a:prstGeom prst="rect">
            <a:avLst/>
          </a:prstGeom>
          <a:solidFill>
            <a:srgbClr val="0A5C6B"/>
          </a:solidFill>
          <a:ln/>
        </p:spPr>
      </p:sp>
      <p:sp>
        <p:nvSpPr>
          <p:cNvPr id="55" name="Text 55"/>
          <p:cNvSpPr/>
          <p:nvPr/>
        </p:nvSpPr>
        <p:spPr>
          <a:xfrm>
            <a:off x="9162324" y="4337860"/>
            <a:ext cx="2376448" cy="1242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users, roles and permissions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doctors and receptionists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system records and billing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security settings (e.g., 2-Step OTP Verification)</a:t>
            </a:r>
            <a:endParaRPr lang="en-US" sz="1000" dirty="0"/>
          </a:p>
          <a:p>
            <a:pPr marL="182880" indent="-18288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reports and dashboard analytics</a:t>
            </a:r>
            <a:endParaRPr lang="en-US" sz="1000" dirty="0"/>
          </a:p>
        </p:txBody>
      </p:sp>
      <p:sp>
        <p:nvSpPr>
          <p:cNvPr id="56" name="Card 56"/>
          <p:cNvSpPr/>
          <p:nvPr/>
        </p:nvSpPr>
        <p:spPr>
          <a:xfrm>
            <a:off x="502920" y="5720000"/>
            <a:ext cx="11185855" cy="560000"/>
          </a:xfrm>
          <a:prstGeom prst="roundRect">
            <a:avLst>
              <a:gd name="adj" fmla="val 13000"/>
            </a:avLst>
          </a:prstGeom>
          <a:solidFill>
            <a:srgbClr val="E8F0F7"/>
          </a:solidFill>
          <a:ln w="9525">
            <a:solidFill>
              <a:srgbClr val="CBDCE6"/>
            </a:solidFill>
            <a:prstDash val="solid"/>
          </a:ln>
        </p:spPr>
      </p:sp>
      <p:sp>
        <p:nvSpPr>
          <p:cNvPr id="57" name="Circle 57"/>
          <p:cNvSpPr/>
          <p:nvPr/>
        </p:nvSpPr>
        <p:spPr>
          <a:xfrm>
            <a:off x="632920" y="5800000"/>
            <a:ext cx="400000" cy="40000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58" name="Icon 5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20" y="5890000"/>
            <a:ext cx="220000" cy="220000"/>
          </a:xfrm>
          <a:prstGeom prst="rect">
            <a:avLst/>
          </a:prstGeom>
        </p:spPr>
      </p:pic>
      <p:sp>
        <p:nvSpPr>
          <p:cNvPr id="59" name="Text 59"/>
          <p:cNvSpPr/>
          <p:nvPr/>
        </p:nvSpPr>
        <p:spPr>
          <a:xfrm>
            <a:off x="1152920" y="5720000"/>
            <a:ext cx="2050000" cy="5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</a:t>
            </a:r>
            <a:endParaRPr lang="en-US" sz="1250" dirty="0"/>
          </a:p>
        </p:txBody>
      </p:sp>
      <p:sp>
        <p:nvSpPr>
          <p:cNvPr id="60" name="Line 60"/>
          <p:cNvSpPr/>
          <p:nvPr/>
        </p:nvSpPr>
        <p:spPr>
          <a:xfrm>
            <a:off x="3202920" y="5810000"/>
            <a:ext cx="0" cy="380000"/>
          </a:xfrm>
          <a:prstGeom prst="line">
            <a:avLst/>
          </a:prstGeom>
          <a:noFill/>
          <a:ln w="9525">
            <a:solidFill>
              <a:srgbClr val="B9CCD6"/>
            </a:solidFill>
            <a:prstDash val="solid"/>
          </a:ln>
        </p:spPr>
      </p:sp>
      <p:sp>
        <p:nvSpPr>
          <p:cNvPr id="61" name="Text 61"/>
          <p:cNvSpPr/>
          <p:nvPr/>
        </p:nvSpPr>
        <p:spPr>
          <a:xfrm>
            <a:off x="3332920" y="5720000"/>
            <a:ext cx="7655855" cy="5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clearly defined set of functional and non-functional requirements that ensures </a:t>
            </a:r>
            <a:r>
              <a:rPr lang="en-US" sz="1150" b="1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HMS is secure, user-friendly, role-based and aligned with hospital workflows.</a:t>
            </a:r>
            <a:endParaRPr lang="en-US" sz="1150" dirty="0"/>
          </a:p>
        </p:txBody>
      </p:sp>
      <p:pic>
        <p:nvPicPr>
          <p:cNvPr id="62" name="Icon 6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8775" y="5790000"/>
            <a:ext cx="420000" cy="420000"/>
          </a:xfrm>
          <a:prstGeom prst="rect">
            <a:avLst/>
          </a:prstGeom>
        </p:spPr>
      </p:pic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Determination — Techniques Used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handshak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Discussions with front-desk staff and doctors to understand day-to-day scheduling and record-keeping pain points.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0624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78308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1" name="Image 1" descr="C:\Users\laksh\AppData\Local\Temp\claude\D--claude\d0701b1d-e099-4c13-83b8-30583566951a\scratchpad\hms_ppt\icons\out\file_medical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14" y="19147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Review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43484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 existing paper registers, appointment slips, and prescription formats used at the front desk.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90956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38160" y="178308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6" name="Image 2" descr="C:\Users\laksh\AppData\Local\Temp\claude\D--claude\d0701b1d-e099-4c13-83b8-30583566951a\scratchpad\hms_ppt\icons\out\window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9834" y="19147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2396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13816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Observing the manual patient registration and appointment booking workflow in practice.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0292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21" name="Image 3" descr="C:\Users\laksh\AppData\Local\Temp\claude\D--claude\d0701b1d-e099-4c13-83b8-30583566951a\scratchpad\hms_ppt\icons\out\list_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4" y="41550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3152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questions to patients about preferred booking channels and communication (email vs. SMS).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20624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34840" y="402336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26" name="Image 4" descr="C:\Users\laksh\AppData\Local\Temp\claude\D--claude\d0701b1d-e099-4c13-83b8-30583566951a\scratchpad\hms_ppt\icons\out\globe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6514" y="41550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2064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System Study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43484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comparable hospital management systems for standard, expected features.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790956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138160" y="402336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31" name="Image 5" descr="C:\Users\laksh\AppData\Local\Temp\claude\D--claude\d0701b1d-e099-4c13-83b8-30583566951a\scratchpad\hms_ppt\icons\out\lightbulb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9834" y="41550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2396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13816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sessions to translate raw findings into a prioritized, feasible feature list for this project.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 — I</a:t>
            </a:r>
            <a:endParaRPr lang="en-US" sz="2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55680" cy="44577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8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visitor to self-register as a patient with email OTP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secure login for all roles via two-step email OTP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patient to view and edit their profile &amp; medical information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patient to book an appointment by department, doctor, date &amp; time slot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 booking of an already-taken time slot for the same 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patient to view and cancel their own upcoming appointments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Notify a patient of appointment confirmation, cancellation or reminder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the doctor's today's appointment queue on a dashboard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mark an appointment complete or cancel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view the medical history of their own patients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author a prescription with multiple medicine entries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configure weekly availability &amp; block unavailable dates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 — II</a:t>
            </a:r>
            <a:endParaRPr lang="en-US" sz="2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55680" cy="4608576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receptionist to register a walk-in patient without OTP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Receptionist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receptionist to book, confirm or cancel appointments on a patient's behalf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Receptionist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receptionist to view doctor availability before booking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Receptionist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an administrator to onboard new doctor and receptionist accounts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 system-wide analytics: patient/doctor/appointment counts, revenue, department load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an administrator to activate or deactivate any non-admin user account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an administrator to view all patients and appointments system-wide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 a real-time notification bell (list, mark-all-read, dismiss) in every portal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 role-based redirection to the correct portal dashboard after login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a billing confirmation step (pay at front desk) before a patient's booking is finalized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Super Admin to enable or disable two-step OTP verification for all logins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shield_che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control, admin-toggleable two-step email OTP login, and Django CSRF protection on every form.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20624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78308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1" name="Image 1" descr="C:\Users\laksh\AppData\Local\Temp\claude\D--claude\d0701b1d-e099-4c13-83b8-30583566951a\scratchpad\hms_ppt\icons\out\bolt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14" y="19147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43484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lookups and dashboard statistics return promptly at single-hospital deployment scale.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790956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38160" y="178308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6" name="Image 2" descr="C:\Users\laksh\AppData\Local\Temp\claude\D--claude\d0701b1d-e099-4c13-83b8-30583566951a\scratchpad\hms_ppt\icons\out\window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9834" y="19147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2396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13816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portal keeps a consistent sidebar/topbar layout with its own accent colour for quick role recognition.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50292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21" name="Image 3" descr="C:\Users\laksh\AppData\Local\Temp\claude\D--claude\d0701b1d-e099-4c13-83b8-30583566951a\scratchpad\hms_ppt\icons\out\check_circl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4" y="41550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database constraints prevent data-integrity issues such as double-booked appointment slots.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420624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34840" y="402336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26" name="Image 4" descr="C:\Users\laksh\AppData\Local\Temp\claude\D--claude\d0701b1d-e099-4c13-83b8-30583566951a\scratchpad\hms_ppt\icons\out\puzzle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6514" y="41550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2064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43484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Django app structure — one app per portal/concern — with shared static-file &amp; template conventions.</a:t>
            </a:r>
            <a:endParaRPr lang="en-US" sz="1080" dirty="0"/>
          </a:p>
        </p:txBody>
      </p:sp>
      <p:sp>
        <p:nvSpPr>
          <p:cNvPr id="29" name="Shape 22"/>
          <p:cNvSpPr/>
          <p:nvPr/>
        </p:nvSpPr>
        <p:spPr>
          <a:xfrm>
            <a:off x="790956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138160" y="402336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31" name="Image 5" descr="C:\Users\laksh\AppData\Local\Temp\claude\D--claude\d0701b1d-e099-4c13-83b8-30583566951a\scratchpad\hms_ppt\icons\out\globe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9834" y="41550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2396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13816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Environment-based configuration lets the same codebase run on SQLite locally and PostgreSQL in production.</a:t>
            </a:r>
            <a:endParaRPr lang="en-US" sz="1080" dirty="0"/>
          </a:p>
        </p:txBody>
      </p:sp>
      <p:sp>
        <p:nvSpPr>
          <p:cNvPr id="34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laye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Design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4269212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requirements to architecture: layers, technology choices, and module structure.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Overview — Three-Tier Design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14400" y="1600200"/>
            <a:ext cx="7589520" cy="960120"/>
          </a:xfrm>
          <a:prstGeom prst="roundRect">
            <a:avLst>
              <a:gd name="adj" fmla="val 9524"/>
            </a:avLst>
          </a:prstGeom>
          <a:solidFill>
            <a:srgbClr val="118AB2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71907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2084832"/>
            <a:ext cx="7040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Templates + CSS/JS  —  4 portal-specific UIs (Patient, Doctor, Receptionist, Admin)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09160" y="2560320"/>
            <a:ext cx="18288" cy="502920"/>
          </a:xfrm>
          <a:prstGeom prst="line">
            <a:avLst/>
          </a:prstGeom>
          <a:noFill/>
          <a:ln w="22225">
            <a:solidFill>
              <a:srgbClr val="76898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7589520" cy="960120"/>
          </a:xfrm>
          <a:prstGeom prst="roundRect">
            <a:avLst>
              <a:gd name="adj" fmla="val 9524"/>
            </a:avLst>
          </a:prstGeom>
          <a:solidFill>
            <a:srgbClr val="073B4C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318211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/ Business Logic Layer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547872"/>
            <a:ext cx="7040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Views  —  URL routing, role-based decorators, OTP &amp; booking business rules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4023360"/>
            <a:ext cx="18288" cy="502920"/>
          </a:xfrm>
          <a:prstGeom prst="line">
            <a:avLst/>
          </a:prstGeom>
          <a:noFill/>
          <a:ln w="22225">
            <a:solidFill>
              <a:srgbClr val="76898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14400" y="4526280"/>
            <a:ext cx="7589520" cy="960120"/>
          </a:xfrm>
          <a:prstGeom prst="roundRect">
            <a:avLst>
              <a:gd name="adj" fmla="val 9524"/>
            </a:avLst>
          </a:prstGeom>
          <a:solidFill>
            <a:srgbClr val="06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464515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5010912"/>
            <a:ext cx="7040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ORM over SQLite (dev) / PostgreSQL (prod)  —  11 tables across 3 apps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2880360"/>
            <a:ext cx="23317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118A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16668" y="3026664"/>
            <a:ext cx="512064" cy="512064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17" name="Image 0" descr="C:\Users\laksh\AppData\Local\Temp\claude\D--claude\d0701b1d-e099-4c13-83b8-30583566951a\scratchpad\hms_ppt\icons\out\envelop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9563" y="3149559"/>
            <a:ext cx="266273" cy="266273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9098280" y="359359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Service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9098280" y="3849624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via Gmail — OTP delivery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 flipV="1">
            <a:off x="8503920" y="3520440"/>
            <a:ext cx="502920" cy="18288"/>
          </a:xfrm>
          <a:prstGeom prst="line">
            <a:avLst/>
          </a:prstGeom>
          <a:noFill/>
          <a:ln w="19050">
            <a:solidFill>
              <a:srgbClr val="118AB2"/>
            </a:solidFill>
            <a:prstDash val="dash"/>
            <a:tailEnd type="triangle"/>
          </a:ln>
        </p:spPr>
      </p:sp>
      <p:sp>
        <p:nvSpPr>
          <p:cNvPr id="21" name="Text 18"/>
          <p:cNvSpPr/>
          <p:nvPr/>
        </p:nvSpPr>
        <p:spPr>
          <a:xfrm>
            <a:off x="502920" y="589788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8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flows top-down; the Application layer also triggers outbound OTP email delivery independently of the data layer.</a:t>
            </a:r>
            <a:endParaRPr lang="en-US" sz="1080" dirty="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52728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C:\Users\laksh\AppData\Local\Temp\claude\D--claude\d0701b1d-e099-4c13-83b8-30583566951a\scratchpad\hms_ppt\icons\out\python_073B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180" y="1941820"/>
            <a:ext cx="304312" cy="3043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52728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6072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76072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724912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C:\Users\laksh\AppData\Local\Temp\claude\D--claude\d0701b1d-e099-4c13-83b8-30583566951a\scratchpad\hms_ppt\icons\out\django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5172" y="1941820"/>
            <a:ext cx="304312" cy="30431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474720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798064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6.1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798064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framework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946904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96712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C:\Users\laksh\AppData\Local\Temp\claude\D--claude\d0701b1d-e099-4c13-83b8-30583566951a\scratchpad\hms_ppt\icons\out\html5_073B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7164" y="1941820"/>
            <a:ext cx="304312" cy="30431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696712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020056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020056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7168896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918704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3" descr="C:\Users\laksh\AppData\Local\Temp\claude\D--claude\d0701b1d-e099-4c13-83b8-30583566951a\scratchpad\hms_ppt\icons\out\css3_073B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9156" y="1941820"/>
            <a:ext cx="304312" cy="304312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918704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242048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7242048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9390888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10140696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4" descr="C:\Users\laksh\AppData\Local\Temp\claude\D--claude\d0701b1d-e099-4c13-83b8-30583566951a\scratchpad\hms_ppt\icons\out\js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1148" y="1941820"/>
            <a:ext cx="304312" cy="304312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10140696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9464040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9464040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interactivity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502920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1252728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6" name="Image 5" descr="C:\Users\laksh\AppData\Local\Temp\claude\D--claude\d0701b1d-e099-4c13-83b8-30583566951a\scratchpad\hms_ppt\icons\out\sqlite_073B4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3180" y="3862060"/>
            <a:ext cx="304312" cy="304312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1252728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576072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576072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 database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2724912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3474720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2" name="Image 6" descr="C:\Users\laksh\AppData\Local\Temp\claude\D--claude\d0701b1d-e099-4c13-83b8-30583566951a\scratchpad\hms_ppt\icons\out\postgresql_073B4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15172" y="3862060"/>
            <a:ext cx="304312" cy="304312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3474720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2798064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45" name="Text 36"/>
          <p:cNvSpPr/>
          <p:nvPr/>
        </p:nvSpPr>
        <p:spPr>
          <a:xfrm>
            <a:off x="2798064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Prod. database</a:t>
            </a:r>
            <a:endParaRPr lang="en-US" sz="950" dirty="0"/>
          </a:p>
        </p:txBody>
      </p:sp>
      <p:sp>
        <p:nvSpPr>
          <p:cNvPr id="46" name="Shape 37"/>
          <p:cNvSpPr/>
          <p:nvPr/>
        </p:nvSpPr>
        <p:spPr>
          <a:xfrm>
            <a:off x="4946904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5696712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8" name="Image 7" descr="C:\Users\laksh\AppData\Local\Temp\claude\D--claude\d0701b1d-e099-4c13-83b8-30583566951a\scratchpad\hms_ppt\icons\out\gunicorn_073B4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37164" y="3862060"/>
            <a:ext cx="304312" cy="304312"/>
          </a:xfrm>
          <a:prstGeom prst="rect">
            <a:avLst/>
          </a:prstGeom>
        </p:spPr>
      </p:pic>
      <p:sp>
        <p:nvSpPr>
          <p:cNvPr id="49" name="Shape 39"/>
          <p:cNvSpPr/>
          <p:nvPr/>
        </p:nvSpPr>
        <p:spPr>
          <a:xfrm>
            <a:off x="5696712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50" name="Text 40"/>
          <p:cNvSpPr/>
          <p:nvPr/>
        </p:nvSpPr>
        <p:spPr>
          <a:xfrm>
            <a:off x="5020056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Gunicorn</a:t>
            </a:r>
            <a:endParaRPr lang="en-US" sz="1200" dirty="0"/>
          </a:p>
        </p:txBody>
      </p:sp>
      <p:sp>
        <p:nvSpPr>
          <p:cNvPr id="51" name="Text 41"/>
          <p:cNvSpPr/>
          <p:nvPr/>
        </p:nvSpPr>
        <p:spPr>
          <a:xfrm>
            <a:off x="5020056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WSGI server</a:t>
            </a:r>
            <a:endParaRPr lang="en-US" sz="950" dirty="0"/>
          </a:p>
        </p:txBody>
      </p:sp>
      <p:sp>
        <p:nvSpPr>
          <p:cNvPr id="52" name="Shape 42"/>
          <p:cNvSpPr/>
          <p:nvPr/>
        </p:nvSpPr>
        <p:spPr>
          <a:xfrm>
            <a:off x="7168896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3" name="Shape 43"/>
          <p:cNvSpPr/>
          <p:nvPr/>
        </p:nvSpPr>
        <p:spPr>
          <a:xfrm>
            <a:off x="7918704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4" name="Image 8" descr="C:\Users\laksh\AppData\Local\Temp\claude\D--claude\d0701b1d-e099-4c13-83b8-30583566951a\scratchpad\hms_ppt\icons\out\render_073B4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9156" y="3862060"/>
            <a:ext cx="304312" cy="304312"/>
          </a:xfrm>
          <a:prstGeom prst="rect">
            <a:avLst/>
          </a:prstGeom>
        </p:spPr>
      </p:pic>
      <p:sp>
        <p:nvSpPr>
          <p:cNvPr id="55" name="Shape 44"/>
          <p:cNvSpPr/>
          <p:nvPr/>
        </p:nvSpPr>
        <p:spPr>
          <a:xfrm>
            <a:off x="7918704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56" name="Text 45"/>
          <p:cNvSpPr/>
          <p:nvPr/>
        </p:nvSpPr>
        <p:spPr>
          <a:xfrm>
            <a:off x="7242048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200" dirty="0"/>
          </a:p>
        </p:txBody>
      </p:sp>
      <p:sp>
        <p:nvSpPr>
          <p:cNvPr id="57" name="Text 46"/>
          <p:cNvSpPr/>
          <p:nvPr/>
        </p:nvSpPr>
        <p:spPr>
          <a:xfrm>
            <a:off x="7242048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platform</a:t>
            </a:r>
            <a:endParaRPr lang="en-US" sz="950" dirty="0"/>
          </a:p>
        </p:txBody>
      </p:sp>
      <p:sp>
        <p:nvSpPr>
          <p:cNvPr id="58" name="Shape 47"/>
          <p:cNvSpPr/>
          <p:nvPr/>
        </p:nvSpPr>
        <p:spPr>
          <a:xfrm>
            <a:off x="9390888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10140696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0" name="Image 9" descr="C:\Users\laksh\AppData\Local\Temp\claude\D--claude\d0701b1d-e099-4c13-83b8-30583566951a\scratchpad\hms_ppt\icons\out\lock_073B4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81148" y="3862060"/>
            <a:ext cx="304312" cy="304312"/>
          </a:xfrm>
          <a:prstGeom prst="rect">
            <a:avLst/>
          </a:prstGeom>
        </p:spPr>
      </p:pic>
      <p:sp>
        <p:nvSpPr>
          <p:cNvPr id="61" name="Shape 49"/>
          <p:cNvSpPr/>
          <p:nvPr/>
        </p:nvSpPr>
        <p:spPr>
          <a:xfrm>
            <a:off x="10140696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62" name="Text 50"/>
          <p:cNvSpPr/>
          <p:nvPr/>
        </p:nvSpPr>
        <p:spPr>
          <a:xfrm>
            <a:off x="9464040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python-decouple</a:t>
            </a:r>
            <a:endParaRPr lang="en-US" sz="1200" dirty="0"/>
          </a:p>
        </p:txBody>
      </p:sp>
      <p:sp>
        <p:nvSpPr>
          <p:cNvPr id="63" name="Text 51"/>
          <p:cNvSpPr/>
          <p:nvPr/>
        </p:nvSpPr>
        <p:spPr>
          <a:xfrm>
            <a:off x="9464040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/ secrets (.env)</a:t>
            </a:r>
            <a:endParaRPr lang="en-US" sz="950" dirty="0"/>
          </a:p>
        </p:txBody>
      </p:sp>
      <p:sp>
        <p:nvSpPr>
          <p:cNvPr id="64" name="Text 52"/>
          <p:cNvSpPr/>
          <p:nvPr/>
        </p:nvSpPr>
        <p:spPr>
          <a:xfrm>
            <a:off x="502920" y="548640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Additional: Pillow (image handling for profile pictures) · WhiteNoise (compressed static-file serving)</a:t>
            </a:r>
            <a:endParaRPr lang="en-US" sz="1100" dirty="0"/>
          </a:p>
        </p:txBody>
      </p:sp>
      <p:sp>
        <p:nvSpPr>
          <p:cNvPr id="65" name="Text 5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6" name="Text 5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/ App Structure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449928" y="1554480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0B2934"/>
          </a:solidFill>
          <a:ln/>
        </p:spPr>
      </p:sp>
      <p:sp>
        <p:nvSpPr>
          <p:cNvPr id="5" name="Text 3"/>
          <p:cNvSpPr/>
          <p:nvPr/>
        </p:nvSpPr>
        <p:spPr>
          <a:xfrm>
            <a:off x="4449928" y="1645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 (Project)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49928" y="19751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settings.py · urls.py · wsgi.py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 flipV="1">
            <a:off x="1560424" y="2331720"/>
            <a:ext cx="4535424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8008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73B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8008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10" name="Shape 8"/>
          <p:cNvSpPr/>
          <p:nvPr/>
        </p:nvSpPr>
        <p:spPr>
          <a:xfrm>
            <a:off x="518008" y="3300984"/>
            <a:ext cx="2084832" cy="192024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11" name="Text 9"/>
          <p:cNvSpPr/>
          <p:nvPr/>
        </p:nvSpPr>
        <p:spPr>
          <a:xfrm>
            <a:off x="518008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9448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URLs (model only)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V="1">
            <a:off x="3828136" y="2331720"/>
            <a:ext cx="2267712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85720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18A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85720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16" name="Shape 14"/>
          <p:cNvSpPr/>
          <p:nvPr/>
        </p:nvSpPr>
        <p:spPr>
          <a:xfrm>
            <a:off x="2785720" y="3300984"/>
            <a:ext cx="2084832" cy="192024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17" name="Text 15"/>
          <p:cNvSpPr/>
          <p:nvPr/>
        </p:nvSpPr>
        <p:spPr>
          <a:xfrm>
            <a:off x="2785720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877160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095848" y="2331720"/>
            <a:ext cx="18288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53432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6D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3432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22" name="Shape 20"/>
          <p:cNvSpPr/>
          <p:nvPr/>
        </p:nvSpPr>
        <p:spPr>
          <a:xfrm>
            <a:off x="5053432" y="3300984"/>
            <a:ext cx="2084832" cy="192024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5053432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144872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/doctor/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95848" y="2331720"/>
            <a:ext cx="2267712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21144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F476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21144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EF476F"/>
          </a:solidFill>
          <a:ln/>
        </p:spPr>
      </p:sp>
      <p:sp>
        <p:nvSpPr>
          <p:cNvPr id="28" name="Shape 26"/>
          <p:cNvSpPr/>
          <p:nvPr/>
        </p:nvSpPr>
        <p:spPr>
          <a:xfrm>
            <a:off x="7321144" y="3300984"/>
            <a:ext cx="2084832" cy="192024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29" name="Text 27"/>
          <p:cNvSpPr/>
          <p:nvPr/>
        </p:nvSpPr>
        <p:spPr>
          <a:xfrm>
            <a:off x="7321144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412584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/receptionist/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095848" y="2331720"/>
            <a:ext cx="4535424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88856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A5C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88856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0A5C6B"/>
          </a:solidFill>
          <a:ln/>
        </p:spPr>
      </p:sp>
      <p:sp>
        <p:nvSpPr>
          <p:cNvPr id="34" name="Shape 32"/>
          <p:cNvSpPr/>
          <p:nvPr/>
        </p:nvSpPr>
        <p:spPr>
          <a:xfrm>
            <a:off x="9588856" y="3300984"/>
            <a:ext cx="2084832" cy="192024"/>
          </a:xfrm>
          <a:prstGeom prst="rect">
            <a:avLst/>
          </a:prstGeom>
          <a:solidFill>
            <a:srgbClr val="0A5C6B"/>
          </a:solidFill>
          <a:ln/>
        </p:spPr>
      </p:sp>
      <p:sp>
        <p:nvSpPr>
          <p:cNvPr id="35" name="Text 33"/>
          <p:cNvSpPr/>
          <p:nvPr/>
        </p:nvSpPr>
        <p:spPr>
          <a:xfrm>
            <a:off x="9588856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adminpanel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680296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/adminpanel/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02920" y="484632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contributes only the shared User model; patient owns the public site + auth/OTP flow since it is the site’s entry point.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window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 Diagrams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4251960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Visualizing how each actor interacts with the Hospital Management System.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— All Actors</a:t>
            </a:r>
            <a:endParaRPr lang="en-US" sz="2900" dirty="0"/>
          </a:p>
        </p:txBody>
      </p:sp>
      <p:sp>
        <p:nvSpPr>
          <p:cNvPr id="40" name="Text 3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271FB04D-EB6C-2235-3889-C87CE4CCEE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4632" y="1125849"/>
            <a:ext cx="9449375" cy="53663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databas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4251960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relationships and full field-level detail for every table in the system.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Entity-Relationship Overview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892040" y="137160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92040" y="1371600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6" name="Shape 4"/>
          <p:cNvSpPr/>
          <p:nvPr/>
        </p:nvSpPr>
        <p:spPr>
          <a:xfrm>
            <a:off x="4892040" y="1499616"/>
            <a:ext cx="2377440" cy="128016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3716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accounts_user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65192" y="1645920"/>
            <a:ext cx="2231136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 ·  email (unique)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otp_code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1188720" y="233172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8720" y="233172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11" name="Shape 9"/>
          <p:cNvSpPr/>
          <p:nvPr/>
        </p:nvSpPr>
        <p:spPr>
          <a:xfrm>
            <a:off x="1188720" y="2459736"/>
            <a:ext cx="1828800" cy="128016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12" name="Text 10"/>
          <p:cNvSpPr/>
          <p:nvPr/>
        </p:nvSpPr>
        <p:spPr>
          <a:xfrm>
            <a:off x="1234440" y="233172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doctor_doctor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61872" y="2606040"/>
            <a:ext cx="1682496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 (1:1)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4892040" y="233172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2331720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16" name="Shape 14"/>
          <p:cNvSpPr/>
          <p:nvPr/>
        </p:nvSpPr>
        <p:spPr>
          <a:xfrm>
            <a:off x="4892040" y="2459736"/>
            <a:ext cx="2377440" cy="128016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23317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patient_patient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65192" y="2606040"/>
            <a:ext cx="2231136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 (1:1)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registered_by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9006840" y="233172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06840" y="233172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21" name="Shape 19"/>
          <p:cNvSpPr/>
          <p:nvPr/>
        </p:nvSpPr>
        <p:spPr>
          <a:xfrm>
            <a:off x="9006840" y="2459736"/>
            <a:ext cx="1828800" cy="128016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22" name="Text 20"/>
          <p:cNvSpPr/>
          <p:nvPr/>
        </p:nvSpPr>
        <p:spPr>
          <a:xfrm>
            <a:off x="9052560" y="233172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receptionist_receptionist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079992" y="2606040"/>
            <a:ext cx="1682496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 (1:1)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457200" y="3429000"/>
            <a:ext cx="1600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429000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3557016"/>
            <a:ext cx="1600200" cy="128016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3429000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doctoravailability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30352" y="3703320"/>
            <a:ext cx="14538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doctor_id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2148840" y="3429000"/>
            <a:ext cx="1600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48840" y="3429000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31" name="Shape 29"/>
          <p:cNvSpPr/>
          <p:nvPr/>
        </p:nvSpPr>
        <p:spPr>
          <a:xfrm>
            <a:off x="2148840" y="3557016"/>
            <a:ext cx="1600200" cy="128016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32" name="Text 30"/>
          <p:cNvSpPr/>
          <p:nvPr/>
        </p:nvSpPr>
        <p:spPr>
          <a:xfrm>
            <a:off x="2194560" y="3429000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blockeddate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221992" y="3703320"/>
            <a:ext cx="14538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doctor_id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4617720" y="3429000"/>
            <a:ext cx="29260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429000"/>
            <a:ext cx="2926080" cy="256032"/>
          </a:xfrm>
          <a:prstGeom prst="roundRect">
            <a:avLst>
              <a:gd name="adj" fmla="val 21429"/>
            </a:avLst>
          </a:prstGeom>
          <a:solidFill>
            <a:srgbClr val="EF476F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7720" y="3557016"/>
            <a:ext cx="2926080" cy="128016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42900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patient_appointment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690872" y="3703320"/>
            <a:ext cx="277977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patient_id, FK doctor_id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unique(doctor, date, slot)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9006840" y="3429000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06840" y="342900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41" name="Shape 39"/>
          <p:cNvSpPr/>
          <p:nvPr/>
        </p:nvSpPr>
        <p:spPr>
          <a:xfrm>
            <a:off x="9006840" y="3557016"/>
            <a:ext cx="1828800" cy="128016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42" name="Text 40"/>
          <p:cNvSpPr/>
          <p:nvPr/>
        </p:nvSpPr>
        <p:spPr>
          <a:xfrm>
            <a:off x="9052560" y="3429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patient_notification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079992" y="370332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3200400" y="4434840"/>
            <a:ext cx="29260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00400" y="4434840"/>
            <a:ext cx="2926080" cy="256032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46" name="Shape 44"/>
          <p:cNvSpPr/>
          <p:nvPr/>
        </p:nvSpPr>
        <p:spPr>
          <a:xfrm>
            <a:off x="3200400" y="4562856"/>
            <a:ext cx="2926080" cy="128016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47" name="Text 45"/>
          <p:cNvSpPr/>
          <p:nvPr/>
        </p:nvSpPr>
        <p:spPr>
          <a:xfrm>
            <a:off x="3246120" y="443484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doctor_prescription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273552" y="4709160"/>
            <a:ext cx="277977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doctor, patient, appointment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06840" y="4434840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06840" y="443484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A9B7BA"/>
          </a:solidFill>
          <a:ln/>
        </p:spPr>
      </p:sp>
      <p:sp>
        <p:nvSpPr>
          <p:cNvPr id="51" name="Shape 49"/>
          <p:cNvSpPr/>
          <p:nvPr/>
        </p:nvSpPr>
        <p:spPr>
          <a:xfrm>
            <a:off x="9006840" y="4562856"/>
            <a:ext cx="1828800" cy="128016"/>
          </a:xfrm>
          <a:prstGeom prst="rect">
            <a:avLst/>
          </a:prstGeom>
          <a:solidFill>
            <a:srgbClr val="A9B7BA"/>
          </a:solidFill>
          <a:ln/>
        </p:spPr>
      </p:sp>
      <p:sp>
        <p:nvSpPr>
          <p:cNvPr id="52" name="Text 50"/>
          <p:cNvSpPr/>
          <p:nvPr/>
        </p:nvSpPr>
        <p:spPr>
          <a:xfrm>
            <a:off x="9052560" y="443484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contactmessage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9079992" y="470916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— no FK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3200400" y="544068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200400" y="5440680"/>
            <a:ext cx="2926080" cy="256032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56" name="Shape 54"/>
          <p:cNvSpPr/>
          <p:nvPr/>
        </p:nvSpPr>
        <p:spPr>
          <a:xfrm>
            <a:off x="3200400" y="5568696"/>
            <a:ext cx="2926080" cy="128016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57" name="Text 55"/>
          <p:cNvSpPr/>
          <p:nvPr/>
        </p:nvSpPr>
        <p:spPr>
          <a:xfrm>
            <a:off x="3246120" y="544068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doctor_prescriptionmedicine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3273552" y="5715000"/>
            <a:ext cx="277977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prescription_id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 flipV="1">
            <a:off x="2103120" y="2057400"/>
            <a:ext cx="397764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80760" y="2057400"/>
            <a:ext cx="18288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80760" y="2057400"/>
            <a:ext cx="384048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2103120" y="2057400"/>
            <a:ext cx="306324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80760" y="2057400"/>
            <a:ext cx="18288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95160" y="2057400"/>
            <a:ext cx="292608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269480" y="1714500"/>
            <a:ext cx="3840480" cy="1714500"/>
          </a:xfrm>
          <a:prstGeom prst="line">
            <a:avLst/>
          </a:prstGeom>
          <a:noFill/>
          <a:ln w="13970">
            <a:solidFill>
              <a:srgbClr val="76898E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 flipV="1">
            <a:off x="1257300" y="3108960"/>
            <a:ext cx="571500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377440" y="3108960"/>
            <a:ext cx="571500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3120" y="3108960"/>
            <a:ext cx="2788920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080760" y="3108960"/>
            <a:ext cx="18288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69480" y="2720340"/>
            <a:ext cx="2651760" cy="3886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3120" y="3108960"/>
            <a:ext cx="1463040" cy="132588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63440" y="3108960"/>
            <a:ext cx="1417320" cy="132588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5760720" y="4087368"/>
            <a:ext cx="320040" cy="347472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663440" y="5093208"/>
            <a:ext cx="18288" cy="347472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88" name="Connector 88"/>
          <p:cNvSpPr/>
          <p:nvPr/>
        </p:nvSpPr>
        <p:spPr>
          <a:xfrm>
            <a:off x="6080760" y="4087368"/>
            <a:ext cx="1485720" cy="347472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89" name="Connector 89"/>
          <p:cNvSpPr/>
          <p:nvPr/>
        </p:nvSpPr>
        <p:spPr>
          <a:xfrm>
            <a:off x="6080760" y="3108960"/>
            <a:ext cx="810720" cy="132588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8" name="Shape 32 billing"/>
          <p:cNvSpPr/>
          <p:nvPr/>
        </p:nvSpPr>
        <p:spPr>
          <a:xfrm>
            <a:off x="6216480" y="4434840"/>
            <a:ext cx="27000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79" name="Shape 33 billing"/>
          <p:cNvSpPr/>
          <p:nvPr/>
        </p:nvSpPr>
        <p:spPr>
          <a:xfrm>
            <a:off x="6216480" y="4434840"/>
            <a:ext cx="2700000" cy="256032"/>
          </a:xfrm>
          <a:prstGeom prst="roundRect">
            <a:avLst>
              <a:gd name="adj" fmla="val 21429"/>
            </a:avLst>
          </a:prstGeom>
          <a:solidFill>
            <a:srgbClr val="FFD166"/>
          </a:solidFill>
          <a:ln/>
        </p:spPr>
      </p:sp>
      <p:sp>
        <p:nvSpPr>
          <p:cNvPr id="80" name="Shape 34 billing"/>
          <p:cNvSpPr/>
          <p:nvPr/>
        </p:nvSpPr>
        <p:spPr>
          <a:xfrm>
            <a:off x="6216480" y="4562856"/>
            <a:ext cx="2700000" cy="128016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81" name="Text 35 billing"/>
          <p:cNvSpPr/>
          <p:nvPr/>
        </p:nvSpPr>
        <p:spPr>
          <a:xfrm>
            <a:off x="6262200" y="4434840"/>
            <a:ext cx="2608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patient_billing</a:t>
            </a:r>
            <a:endParaRPr lang="en-US" sz="950" dirty="0"/>
          </a:p>
        </p:txBody>
      </p:sp>
      <p:sp>
        <p:nvSpPr>
          <p:cNvPr id="82" name="Text 36 billing"/>
          <p:cNvSpPr/>
          <p:nvPr/>
        </p:nvSpPr>
        <p:spPr>
          <a:xfrm>
            <a:off x="6289632" y="4709160"/>
            <a:ext cx="25536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appointment_id, FK patient_id</a:t>
            </a:r>
            <a:endParaRPr lang="en-US" sz="760" dirty="0"/>
          </a:p>
        </p:txBody>
      </p:sp>
      <p:sp>
        <p:nvSpPr>
          <p:cNvPr id="83" name="Shape 47 systemsettings"/>
          <p:cNvSpPr/>
          <p:nvPr/>
        </p:nvSpPr>
        <p:spPr>
          <a:xfrm>
            <a:off x="8500000" y="1371600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84" name="Shape 48 systemsettings"/>
          <p:cNvSpPr/>
          <p:nvPr/>
        </p:nvSpPr>
        <p:spPr>
          <a:xfrm>
            <a:off x="8500000" y="137160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A9B7BA"/>
          </a:solidFill>
          <a:ln/>
        </p:spPr>
      </p:sp>
      <p:sp>
        <p:nvSpPr>
          <p:cNvPr id="85" name="Shape 49 systemsettings"/>
          <p:cNvSpPr/>
          <p:nvPr/>
        </p:nvSpPr>
        <p:spPr>
          <a:xfrm>
            <a:off x="8500000" y="1499616"/>
            <a:ext cx="1828800" cy="128016"/>
          </a:xfrm>
          <a:prstGeom prst="rect">
            <a:avLst/>
          </a:prstGeom>
          <a:solidFill>
            <a:srgbClr val="A9B7BA"/>
          </a:solidFill>
          <a:ln/>
        </p:spPr>
      </p:sp>
      <p:sp>
        <p:nvSpPr>
          <p:cNvPr id="86" name="Text 50 systemsettings"/>
          <p:cNvSpPr/>
          <p:nvPr/>
        </p:nvSpPr>
        <p:spPr>
          <a:xfrm>
            <a:off x="8545720" y="13716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accounts_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systemsettings</a:t>
            </a:r>
            <a:endParaRPr lang="en-US" sz="950" dirty="0"/>
          </a:p>
        </p:txBody>
      </p:sp>
      <p:sp>
        <p:nvSpPr>
          <p:cNvPr id="87" name="Text 51 systemsettings"/>
          <p:cNvSpPr/>
          <p:nvPr/>
        </p:nvSpPr>
        <p:spPr>
          <a:xfrm>
            <a:off x="8573152" y="164592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— no FK</a:t>
            </a:r>
            <a:endParaRPr lang="en-US" sz="760" dirty="0"/>
          </a:p>
        </p:txBody>
      </p:sp>
      <p:sp>
        <p:nvSpPr>
          <p:cNvPr id="75" name="Text 73"/>
          <p:cNvSpPr/>
          <p:nvPr/>
        </p:nvSpPr>
        <p:spPr>
          <a:xfrm>
            <a:off x="502920" y="617220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 = 1:M via FK across app boundary. All role-profile links (User↔Doctor/Patient/Receptionist) are 1:1; all others are 1:M. Gray boxes (patient_contactmessage, accounts_systemsettings) are standalone/singleton tables with no FK.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accounts_user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5298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— login identifier (USERNAME_FIELD)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username, first_name, last_name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Inherited from Django AbstractUser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password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password (Django auth)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admin / doctor / receptionist / patient; default 'patient'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otp_code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/ Null — pending 6-digit verification code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otp_created_at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/ Null — used with a 5-minute expiry window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is_active, is_staff, is_superuser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Inherited — account status &amp; permission flags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last_login, date_joined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Inherited — audit timestamps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AUTH_USER_MODEL for the project — extends django.contrib.auth.models.AbstractUser. Shared by all four portals.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patient_patient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31013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OneToOneField → accounts_user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patient_id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CharField(20), unique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Auto-generated, e.g. 'PAT000007' (in save())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registered_by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receptionist_receptionist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Nullable — set when front-desk registered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profile_image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phone, date_of_birth, gender, blood_group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 / Date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&amp; demographic details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address, city, state, country, pincode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 / Text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 details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emergency_contact_name, emergency_contact_number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 contact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allergies, medical_history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Free-text clinical 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patient_appointment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7813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patient_patient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doctor_doctor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appointment_date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time_slot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'09:00 AM'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visit_type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new / follow-up; default 'new'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CharField(30)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departments; default 'general'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/ confirmed / cancelled / completed; default 'pending'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— reason for visit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Meta.unique_together = ('doctor', 'appointment_date', 'time_slot') — enforces conflict-free scheduling at the database level.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patient_billing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27838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appointment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patient_appointment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patient_patient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bill_type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consultation / no_show_fee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/ paid / waived; default 'pending'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PositiveIntegerField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Equals the doctor's consultation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/ Null — set when marked paid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Billing row is created automatically when an appointment is booked, and a second row is added as a no-show fee if a confirmed appointment is missed.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patient_notification  &amp;  patient_contactmessage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patient_notification</a:t>
            </a:r>
            <a:endParaRPr lang="en-US" sz="1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5486400" cy="177546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→ accounts_user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by all 4 portals’ bell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notification_type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 / reminder / cancelled / general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CharField(255)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 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is_read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default=False — drives unread badge 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309360" y="14173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patient_contactmessage</a:t>
            </a:r>
            <a:endParaRPr lang="en-US" sz="1400" dirty="0"/>
          </a:p>
        </p:txBody>
      </p:sp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783080"/>
          <a:ext cx="5394960" cy="17145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7B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7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full_name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CharField(50)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DateTimeField, auto_now_add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309360" y="53492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 the public "Contact Us" form — standalone, no foreign keys.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doctor_doctor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6898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OneToOneField → accounts_user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CharField(30)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departments (choices)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specialization, qualification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Professional profile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experience_years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PositiveIntegerField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default=0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consultation_fee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PositiveIntegerField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default=0 — used for admin revenue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bio, profile_picture, license_number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/ Image / Char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profile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registered_since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PositiveIntegerField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Year, nullable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slot_duration, buffer_time, max_per_day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PositiveIntegerField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Scheduling config (defaults: 30 / 5 min)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doctor_doctoravailability  &amp;  doctor_blockeddate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doctor_doctoravailability</a:t>
            </a:r>
            <a:endParaRPr lang="en-US" sz="14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5486400" cy="12268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→ doctor_doctor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monday – sunday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is_available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default=True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start_time, end_time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defaults: '09:00' / '17:00'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3703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Meta.unique_together = ('doctor', 'day')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309360" y="14173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doctor_blockeddate</a:t>
            </a:r>
            <a:endParaRPr lang="en-US" sz="1400" dirty="0"/>
          </a:p>
        </p:txBody>
      </p:sp>
      <p:graphicFrame>
        <p:nvGraphicFramePr>
          <p:cNvPr id="7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783080"/>
          <a:ext cx="5394960" cy="9829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→ doctor_doctor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fully unavailable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allowed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309360" y="342900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Meta.unique_together = ('doctor', 'date')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02920" y="4206240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these two tables let a doctor configure a recurring weekly schedule and mark specific one-off unavailable dates (leave, holidays, etc.).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doctor_prescription</a:t>
            </a:r>
            <a:endParaRPr lang="en-US" sz="26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2783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doctor_doctor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patient_patient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appointment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patient_appointment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Nullable, on_delete=SET_NULL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allowed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follow_up_date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/ Null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Meta.ordering = ['-created_at'] — most recent prescriptions listed first.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doctor_prescriptionmedicine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0269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prescription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doctor_prescription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 — one row per medicine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Medicine 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"500mg"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once/twice/thrice a day, every 6h/8h, as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"5 days"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"After food"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Prescription can have multiple PrescriptionMedicine rows — authored via a dynamic multi-row form.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receptionist_receptionist</a:t>
            </a:r>
            <a:endParaRPr lang="en-US" sz="26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0269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OneToOneField → accounts_user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employee_id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CharField(20), unique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Auto-generated, e.g. 'REC000003'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allowed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profile_picture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morning / evening / night; default 'morning'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date_joined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Future Enhancements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06D6A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118AB2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HMS replaces manual, paper-based hospital workflows with one centralized, role-based Django web application.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distinct portals (Patient, Doctor, Receptionist, Admin) share one authentication core and one appointment/notification data layer.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Database-level constraints, automatic appointment billing, and admin-toggleable email-OTP verification make the system both reliable and secure by design.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faster patient service, less administrative overhead, and real-time operational visibility for management.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backend for the forgot-password flow (currently UI-only)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online payment gateway so bills can be settled online instead of at the front desk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SMS / push notifications alongside email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laboratory / diagnostic report management module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uploaded media to external cloud storage (e.g. S3) for production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automated test suite for regression safety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 native mobile app or PWA for patients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206240" cy="420624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754880"/>
            <a:ext cx="3840480" cy="384048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4" name="Shape 2"/>
          <p:cNvSpPr/>
          <p:nvPr/>
        </p:nvSpPr>
        <p:spPr>
          <a:xfrm>
            <a:off x="5638648" y="1965960"/>
            <a:ext cx="914400" cy="91440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5" name="Image 0" descr="C:\Users\laksh\AppData\Local\Temp\claude\D--claude\d0701b1d-e099-4c13-83b8-30583566951a\scratchpad\hms_ppt\icons\out\handshake_06D6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8104" y="2185416"/>
            <a:ext cx="475488" cy="475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06324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14400" y="393192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466344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  —  [LAKASIT SUTHAR,NIRMEET MAKWANA,PRINSI TRAPASIYA]  </a:t>
            </a:r>
            <a:r>
              <a:rPr lang="en-US" sz="120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[LJ UNIVERSITY]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4219</Words>
  <Application>Microsoft Office PowerPoint</Application>
  <PresentationFormat>Widescreen</PresentationFormat>
  <Paragraphs>908</Paragraphs>
  <Slides>37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Arial</vt:lpstr>
      <vt:lpstr>Calibri</vt:lpstr>
      <vt:lpstr>Cambria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Hospital Management System - Project Presentation</dc:title>
  <dc:subject>PptxGenJS Presentation</dc:subject>
  <dc:creator>Hospital Management System Project</dc:creator>
  <cp:lastModifiedBy>lakshit suthar</cp:lastModifiedBy>
  <cp:revision>20</cp:revision>
  <dcterms:created xsi:type="dcterms:W3CDTF">2026-08-19T15:07:32Z</dcterms:created>
  <dcterms:modified xsi:type="dcterms:W3CDTF">2026-09-03T08:56:08Z</dcterms:modified>
</cp:coreProperties>
</file>