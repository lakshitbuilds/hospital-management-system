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727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017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B1BE"/>
                </a:solidFill>
              </a:rPr>
              <a:t>HMS   •   HOSPITAL MANAGEMENT SYSTEM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88552" y="18288"/>
            <a:ext cx="3136392" cy="3136392"/>
          </a:xfrm>
          <a:prstGeom prst="ellipse">
            <a:avLst/>
          </a:prstGeom>
          <a:solidFill>
            <a:srgbClr val="008F89">
              <a:alpha val="0"/>
            </a:srgbClr>
          </a:solidFill>
          <a:ln w="31750">
            <a:solidFill>
              <a:srgbClr val="3ACBC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3749040"/>
            <a:ext cx="2834640" cy="2834640"/>
          </a:xfrm>
          <a:prstGeom prst="ellipse">
            <a:avLst/>
          </a:prstGeom>
          <a:solidFill>
            <a:srgbClr val="008F89">
              <a:alpha val="0"/>
            </a:srgbClr>
          </a:solidFill>
          <a:ln w="19050">
            <a:solidFill>
              <a:srgbClr val="97E7E0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26464"/>
            <a:ext cx="7315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185416"/>
            <a:ext cx="7406640" cy="7589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SYSTEM</a:t>
            </a:r>
            <a:endParaRPr lang="en-US" sz="37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005840" cy="59436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83864"/>
            <a:ext cx="67665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centralized, role-based web platform for simpler hospital operations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4965192"/>
            <a:ext cx="7040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9CB9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PROJECT – 1    |    MCA SEMESTER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11430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63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01952" y="5422392"/>
            <a:ext cx="6172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Lakshit Suthar   •   Nirmeet Makwana   </a:t>
            </a:r>
            <a:r>
              <a:rPr lang="en-US" sz="12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Princi Trapasiya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980176"/>
            <a:ext cx="6400800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by Prof. Ajay Chauhan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90888" y="1975104"/>
            <a:ext cx="1984248" cy="1965960"/>
          </a:xfrm>
          <a:prstGeom prst="roundRect">
            <a:avLst>
              <a:gd name="adj" fmla="val 10698"/>
            </a:avLst>
          </a:prstGeom>
          <a:solidFill>
            <a:srgbClr val="0F938C">
              <a:alpha val="97000"/>
            </a:srgbClr>
          </a:solidFill>
          <a:ln w="19050">
            <a:solidFill>
              <a:srgbClr val="75E7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22992" y="2286000"/>
            <a:ext cx="338328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10928" y="2788920"/>
            <a:ext cx="133502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at a glance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platform, four roles, and a connected hospital workflow.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1527048"/>
            <a:ext cx="3547872" cy="1389888"/>
          </a:xfrm>
          <a:prstGeom prst="roundRect">
            <a:avLst>
              <a:gd name="adj" fmla="val 10526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709928"/>
            <a:ext cx="91440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1645920" y="1938528"/>
            <a:ext cx="227685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user roles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07992" y="1527048"/>
            <a:ext cx="3547872" cy="1389888"/>
          </a:xfrm>
          <a:prstGeom prst="roundRect">
            <a:avLst>
              <a:gd name="adj" fmla="val 10526"/>
            </a:avLst>
          </a:prstGeom>
          <a:solidFill>
            <a:srgbClr val="DAF4EF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709928"/>
            <a:ext cx="91440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3700" dirty="0"/>
          </a:p>
        </p:txBody>
      </p:sp>
      <p:sp>
        <p:nvSpPr>
          <p:cNvPr id="13" name="Text 11"/>
          <p:cNvSpPr/>
          <p:nvPr/>
        </p:nvSpPr>
        <p:spPr>
          <a:xfrm>
            <a:off x="5495544" y="1938528"/>
            <a:ext cx="227685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functional modules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57616" y="1527048"/>
            <a:ext cx="3547872" cy="1389888"/>
          </a:xfrm>
          <a:prstGeom prst="roundRect">
            <a:avLst>
              <a:gd name="adj" fmla="val 10526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58784" y="1709928"/>
            <a:ext cx="91440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3700" dirty="0"/>
          </a:p>
        </p:txBody>
      </p:sp>
      <p:sp>
        <p:nvSpPr>
          <p:cNvPr id="16" name="Text 14"/>
          <p:cNvSpPr/>
          <p:nvPr/>
        </p:nvSpPr>
        <p:spPr>
          <a:xfrm>
            <a:off x="9345168" y="1938528"/>
            <a:ext cx="227685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database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3227832"/>
            <a:ext cx="10963656" cy="2240280"/>
          </a:xfrm>
          <a:prstGeom prst="roundRect">
            <a:avLst>
              <a:gd name="adj" fmla="val 6531"/>
            </a:avLst>
          </a:prstGeom>
          <a:solidFill>
            <a:srgbClr val="EAF4FA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502152"/>
            <a:ext cx="3657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PURPOSE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867912"/>
            <a:ext cx="10241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waiting time, paperwork and duplicated data entry while improving access to hospital information.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987552" y="5029200"/>
            <a:ext cx="1490472" cy="320040"/>
          </a:xfrm>
          <a:prstGeom prst="roundRect">
            <a:avLst>
              <a:gd name="adj" fmla="val 45714"/>
            </a:avLst>
          </a:prstGeom>
          <a:solidFill>
            <a:srgbClr val="DAF4EF"/>
          </a:solidFill>
          <a:ln w="8890">
            <a:solidFill>
              <a:srgbClr val="DAF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5047488"/>
            <a:ext cx="1417320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based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88336" y="5029200"/>
            <a:ext cx="1490472" cy="320040"/>
          </a:xfrm>
          <a:prstGeom prst="roundRect">
            <a:avLst>
              <a:gd name="adj" fmla="val 45714"/>
            </a:avLst>
          </a:prstGeom>
          <a:solidFill>
            <a:srgbClr val="DAF4EF"/>
          </a:solidFill>
          <a:ln w="8890">
            <a:solidFill>
              <a:srgbClr val="DAF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5047488"/>
            <a:ext cx="1417320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secured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5029200"/>
            <a:ext cx="1828800" cy="320040"/>
          </a:xfrm>
          <a:prstGeom prst="roundRect">
            <a:avLst>
              <a:gd name="adj" fmla="val 45714"/>
            </a:avLst>
          </a:prstGeom>
          <a:solidFill>
            <a:srgbClr val="DAF4EF"/>
          </a:solidFill>
          <a:ln w="8890">
            <a:solidFill>
              <a:srgbClr val="DAF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25696" y="5047488"/>
            <a:ext cx="1755648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centered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 hospitals need an HMS?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and disconnected processes slow down everyday work.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239512" cy="4407408"/>
          </a:xfrm>
          <a:prstGeom prst="roundRect">
            <a:avLst>
              <a:gd name="adj" fmla="val 3320"/>
            </a:avLst>
          </a:prstGeom>
          <a:solidFill>
            <a:srgbClr val="FFF0F1"/>
          </a:solidFill>
          <a:ln w="8890">
            <a:solidFill>
              <a:srgbClr val="F0D5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1072" y="1417320"/>
            <a:ext cx="5239512" cy="4407408"/>
          </a:xfrm>
          <a:prstGeom prst="roundRect">
            <a:avLst>
              <a:gd name="adj" fmla="val 3320"/>
            </a:avLst>
          </a:prstGeom>
          <a:solidFill>
            <a:srgbClr val="DAF4EF"/>
          </a:solidFill>
          <a:ln w="8890">
            <a:solidFill>
              <a:srgbClr val="C9E8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737360"/>
            <a:ext cx="27432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B953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PROCESS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737360"/>
            <a:ext cx="27432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OUR HMS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32688" y="2331720"/>
            <a:ext cx="329184" cy="320040"/>
          </a:xfrm>
          <a:prstGeom prst="roundRect">
            <a:avLst>
              <a:gd name="adj" fmla="val 45714"/>
            </a:avLst>
          </a:prstGeom>
          <a:solidFill>
            <a:srgbClr val="FBE3E5"/>
          </a:solidFill>
          <a:ln w="8890">
            <a:solidFill>
              <a:srgbClr val="FBE3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350008"/>
            <a:ext cx="25603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53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44752" y="2286000"/>
            <a:ext cx="397764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Paper-based patient registration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3054096"/>
            <a:ext cx="329184" cy="320040"/>
          </a:xfrm>
          <a:prstGeom prst="roundRect">
            <a:avLst>
              <a:gd name="adj" fmla="val 45714"/>
            </a:avLst>
          </a:prstGeom>
          <a:solidFill>
            <a:srgbClr val="FBE3E5"/>
          </a:solidFill>
          <a:ln w="8890">
            <a:solidFill>
              <a:srgbClr val="FBE3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72384"/>
            <a:ext cx="25603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53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44752" y="3008376"/>
            <a:ext cx="397764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 conflicts and long queues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3776472"/>
            <a:ext cx="329184" cy="320040"/>
          </a:xfrm>
          <a:prstGeom prst="roundRect">
            <a:avLst>
              <a:gd name="adj" fmla="val 45714"/>
            </a:avLst>
          </a:prstGeom>
          <a:solidFill>
            <a:srgbClr val="FBE3E5"/>
          </a:solidFill>
          <a:ln w="8890">
            <a:solidFill>
              <a:srgbClr val="FBE3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794760"/>
            <a:ext cx="25603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53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44752" y="3730752"/>
            <a:ext cx="397764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Scattered medical records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32688" y="4498848"/>
            <a:ext cx="329184" cy="320040"/>
          </a:xfrm>
          <a:prstGeom prst="roundRect">
            <a:avLst>
              <a:gd name="adj" fmla="val 45714"/>
            </a:avLst>
          </a:prstGeom>
          <a:solidFill>
            <a:srgbClr val="FBE3E5"/>
          </a:solidFill>
          <a:ln w="8890">
            <a:solidFill>
              <a:srgbClr val="FBE3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517136"/>
            <a:ext cx="25603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53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44752" y="4453128"/>
            <a:ext cx="397764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billing and limited visibility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0" y="2331720"/>
            <a:ext cx="329184" cy="320040"/>
          </a:xfrm>
          <a:prstGeom prst="roundRect">
            <a:avLst>
              <a:gd name="adj" fmla="val 45714"/>
            </a:avLst>
          </a:prstGeom>
          <a:solidFill>
            <a:srgbClr val="C4EEE5"/>
          </a:solidFill>
          <a:ln w="8890">
            <a:solidFill>
              <a:srgbClr val="C4E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0256" y="2350008"/>
            <a:ext cx="25603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95744" y="2286000"/>
            <a:ext cx="40233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patient profiles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83680" y="3054096"/>
            <a:ext cx="329184" cy="320040"/>
          </a:xfrm>
          <a:prstGeom prst="roundRect">
            <a:avLst>
              <a:gd name="adj" fmla="val 45714"/>
            </a:avLst>
          </a:prstGeom>
          <a:solidFill>
            <a:srgbClr val="C4EEE5"/>
          </a:solidFill>
          <a:ln w="8890">
            <a:solidFill>
              <a:srgbClr val="C4EE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3072384"/>
            <a:ext cx="25603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95744" y="3008376"/>
            <a:ext cx="40233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availability and booking status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83680" y="3776472"/>
            <a:ext cx="329184" cy="320040"/>
          </a:xfrm>
          <a:prstGeom prst="roundRect">
            <a:avLst>
              <a:gd name="adj" fmla="val 45714"/>
            </a:avLst>
          </a:prstGeom>
          <a:solidFill>
            <a:srgbClr val="C4EEE5"/>
          </a:solidFill>
          <a:ln w="8890">
            <a:solidFill>
              <a:srgbClr val="C4EE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3794760"/>
            <a:ext cx="25603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95744" y="3730752"/>
            <a:ext cx="40233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Role-authorized records and prescriptions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83680" y="4498848"/>
            <a:ext cx="329184" cy="320040"/>
          </a:xfrm>
          <a:prstGeom prst="roundRect">
            <a:avLst>
              <a:gd name="adj" fmla="val 45714"/>
            </a:avLst>
          </a:prstGeom>
          <a:solidFill>
            <a:srgbClr val="C4EEE5"/>
          </a:solidFill>
          <a:ln w="8890">
            <a:solidFill>
              <a:srgbClr val="C4EE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0256" y="4517136"/>
            <a:ext cx="25603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95744" y="4453128"/>
            <a:ext cx="40233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bills and reports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designed around speed, accuracy and controlled access.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3547872" cy="2002536"/>
          </a:xfrm>
          <a:prstGeom prst="roundRect">
            <a:avLst>
              <a:gd name="adj" fmla="val 7306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627632"/>
            <a:ext cx="539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9536" y="2167128"/>
            <a:ext cx="31089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8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time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859536" y="2569464"/>
            <a:ext cx="3108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registration and appointment processing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98848" y="1444752"/>
            <a:ext cx="3547872" cy="2002536"/>
          </a:xfrm>
          <a:prstGeom prst="roundRect">
            <a:avLst>
              <a:gd name="adj" fmla="val 7306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627632"/>
            <a:ext cx="539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00016" y="2167128"/>
            <a:ext cx="31089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8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 information</a:t>
            </a:r>
            <a:endParaRPr lang="en-US" sz="1680" dirty="0"/>
          </a:p>
        </p:txBody>
      </p:sp>
      <p:sp>
        <p:nvSpPr>
          <p:cNvPr id="15" name="Text 13"/>
          <p:cNvSpPr/>
          <p:nvPr/>
        </p:nvSpPr>
        <p:spPr>
          <a:xfrm>
            <a:off x="4700016" y="2569464"/>
            <a:ext cx="3108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patient, doctor and billing data together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39328" y="1444752"/>
            <a:ext cx="3547872" cy="2002536"/>
          </a:xfrm>
          <a:prstGeom prst="roundRect">
            <a:avLst>
              <a:gd name="adj" fmla="val 7306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0496" y="1627632"/>
            <a:ext cx="539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40496" y="2167128"/>
            <a:ext cx="31089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8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clinical work</a:t>
            </a:r>
            <a:endParaRPr lang="en-US" sz="1680" dirty="0"/>
          </a:p>
        </p:txBody>
      </p:sp>
      <p:sp>
        <p:nvSpPr>
          <p:cNvPr id="19" name="Text 17"/>
          <p:cNvSpPr/>
          <p:nvPr/>
        </p:nvSpPr>
        <p:spPr>
          <a:xfrm>
            <a:off x="8540496" y="2569464"/>
            <a:ext cx="3108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authorized records and prescriptions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3730752"/>
            <a:ext cx="3547872" cy="2002536"/>
          </a:xfrm>
          <a:prstGeom prst="roundRect">
            <a:avLst>
              <a:gd name="adj" fmla="val 7306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913632"/>
            <a:ext cx="539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9536" y="4453128"/>
            <a:ext cx="31089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8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administration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859536" y="4855464"/>
            <a:ext cx="3108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the Super Admin reports and user control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98848" y="3730752"/>
            <a:ext cx="3547872" cy="2002536"/>
          </a:xfrm>
          <a:prstGeom prst="roundRect">
            <a:avLst>
              <a:gd name="adj" fmla="val 7306"/>
            </a:avLst>
          </a:prstGeom>
          <a:solidFill>
            <a:srgbClr val="DAF4EF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3913632"/>
            <a:ext cx="539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700016" y="4453128"/>
            <a:ext cx="31089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8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information</a:t>
            </a:r>
            <a:endParaRPr lang="en-US" sz="1680" dirty="0"/>
          </a:p>
        </p:txBody>
      </p:sp>
      <p:sp>
        <p:nvSpPr>
          <p:cNvPr id="27" name="Text 25"/>
          <p:cNvSpPr/>
          <p:nvPr/>
        </p:nvSpPr>
        <p:spPr>
          <a:xfrm>
            <a:off x="4700016" y="4855464"/>
            <a:ext cx="3108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 and optional email OTP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39328" y="3730752"/>
            <a:ext cx="3547872" cy="2002536"/>
          </a:xfrm>
          <a:prstGeom prst="roundRect">
            <a:avLst>
              <a:gd name="adj" fmla="val 7306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0496" y="3913632"/>
            <a:ext cx="539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540496" y="4453128"/>
            <a:ext cx="31089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8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billing</a:t>
            </a:r>
            <a:endParaRPr lang="en-US" sz="1680" dirty="0"/>
          </a:p>
        </p:txBody>
      </p:sp>
      <p:sp>
        <p:nvSpPr>
          <p:cNvPr id="31" name="Text 29"/>
          <p:cNvSpPr/>
          <p:nvPr/>
        </p:nvSpPr>
        <p:spPr>
          <a:xfrm>
            <a:off x="8540496" y="4855464"/>
            <a:ext cx="3108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Auto-create appointment bills and no-show fees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uses the system?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account sees only the features needed for its responsibility.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5449824" cy="1911096"/>
          </a:xfrm>
          <a:prstGeom prst="roundRect">
            <a:avLst>
              <a:gd name="adj" fmla="val 7656"/>
            </a:avLst>
          </a:prstGeom>
          <a:solidFill>
            <a:srgbClr val="DAF4EF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28216"/>
            <a:ext cx="548640" cy="548640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1845448"/>
            <a:ext cx="37490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91056" y="1783080"/>
            <a:ext cx="411480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 ADMIN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295144"/>
            <a:ext cx="4197096" cy="7406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Hospital-wide control, system settings, users and management reports.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82512" y="1444752"/>
            <a:ext cx="5449824" cy="1911096"/>
          </a:xfrm>
          <a:prstGeom prst="roundRect">
            <a:avLst>
              <a:gd name="adj" fmla="val 7656"/>
            </a:avLst>
          </a:prstGeom>
          <a:solidFill>
            <a:srgbClr val="EAF4FA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38544" y="1728216"/>
            <a:ext cx="548640" cy="548640"/>
          </a:xfrm>
          <a:prstGeom prst="ellipse">
            <a:avLst/>
          </a:prstGeom>
          <a:solidFill>
            <a:srgbClr val="3D77A4"/>
          </a:solidFill>
          <a:ln w="12700">
            <a:solidFill>
              <a:srgbClr val="3D77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0088" y="1845448"/>
            <a:ext cx="225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0" y="1783080"/>
            <a:ext cx="411480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24344" y="2295144"/>
            <a:ext cx="4197096" cy="7406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consultations, diagnosis notes and prescriptions.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" y="3630168"/>
            <a:ext cx="5449824" cy="1911096"/>
          </a:xfrm>
          <a:prstGeom prst="roundRect">
            <a:avLst>
              <a:gd name="adj" fmla="val 7656"/>
            </a:avLst>
          </a:prstGeom>
          <a:solidFill>
            <a:srgbClr val="FFF2E4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913632"/>
            <a:ext cx="548640" cy="548640"/>
          </a:xfrm>
          <a:prstGeom prst="ellipse">
            <a:avLst/>
          </a:prstGeom>
          <a:solidFill>
            <a:srgbClr val="D08E47"/>
          </a:solidFill>
          <a:ln w="12700">
            <a:solidFill>
              <a:srgbClr val="D08E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4514" y="4027932"/>
            <a:ext cx="37490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91056" y="3968496"/>
            <a:ext cx="411480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RECEPTIONIST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480560"/>
            <a:ext cx="4197096" cy="7406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registration, scheduling and front-desk billing.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82512" y="3630168"/>
            <a:ext cx="5449824" cy="1911096"/>
          </a:xfrm>
          <a:prstGeom prst="roundRect">
            <a:avLst>
              <a:gd name="adj" fmla="val 7656"/>
            </a:avLst>
          </a:prstGeom>
          <a:solidFill>
            <a:srgbClr val="F0EEFB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38544" y="3913632"/>
            <a:ext cx="548640" cy="548640"/>
          </a:xfrm>
          <a:prstGeom prst="ellipse">
            <a:avLst/>
          </a:prstGeom>
          <a:solidFill>
            <a:srgbClr val="786BB1"/>
          </a:solidFill>
          <a:ln w="12700">
            <a:solidFill>
              <a:srgbClr val="786B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0088" y="4027932"/>
            <a:ext cx="37490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0" y="3968496"/>
            <a:ext cx="411480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24344" y="4480560"/>
            <a:ext cx="4197096" cy="7406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appointments, records, prescriptions and receipts.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modules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areas that work together inside the application.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1536192"/>
            <a:ext cx="2157984" cy="1755648"/>
          </a:xfrm>
          <a:prstGeom prst="roundRect">
            <a:avLst>
              <a:gd name="adj" fmla="val 8333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673352"/>
            <a:ext cx="51206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3816" y="2194560"/>
            <a:ext cx="188366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&amp; Roles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71800" y="1536192"/>
            <a:ext cx="2157984" cy="1755648"/>
          </a:xfrm>
          <a:prstGeom prst="roundRect">
            <a:avLst>
              <a:gd name="adj" fmla="val 8333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1673352"/>
            <a:ext cx="51206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27248" y="2194560"/>
            <a:ext cx="188366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 Admin Dashboard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85232" y="1536192"/>
            <a:ext cx="2157984" cy="1755648"/>
          </a:xfrm>
          <a:prstGeom prst="roundRect">
            <a:avLst>
              <a:gd name="adj" fmla="val 8333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1673352"/>
            <a:ext cx="51206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40680" y="2194560"/>
            <a:ext cx="188366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Dashboard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598664" y="1536192"/>
            <a:ext cx="2157984" cy="1755648"/>
          </a:xfrm>
          <a:prstGeom prst="roundRect">
            <a:avLst>
              <a:gd name="adj" fmla="val 8333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54112" y="1673352"/>
            <a:ext cx="51206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54112" y="2194560"/>
            <a:ext cx="188366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Receptionist Dashboard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912096" y="1536192"/>
            <a:ext cx="2157984" cy="1755648"/>
          </a:xfrm>
          <a:prstGeom prst="roundRect">
            <a:avLst>
              <a:gd name="adj" fmla="val 8333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67544" y="1673352"/>
            <a:ext cx="51206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67544" y="2194560"/>
            <a:ext cx="188366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Dashboard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3547872"/>
            <a:ext cx="2157984" cy="1755648"/>
          </a:xfrm>
          <a:prstGeom prst="roundRect">
            <a:avLst>
              <a:gd name="adj" fmla="val 8333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3685032"/>
            <a:ext cx="51206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3816" y="4206240"/>
            <a:ext cx="188366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 Management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971800" y="3547872"/>
            <a:ext cx="2157984" cy="1755648"/>
          </a:xfrm>
          <a:prstGeom prst="roundRect">
            <a:avLst>
              <a:gd name="adj" fmla="val 8333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27248" y="3685032"/>
            <a:ext cx="51206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127248" y="4206240"/>
            <a:ext cx="188366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&amp; Doctor Records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285232" y="3547872"/>
            <a:ext cx="2157984" cy="1755648"/>
          </a:xfrm>
          <a:prstGeom prst="roundRect">
            <a:avLst>
              <a:gd name="adj" fmla="val 8333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685032"/>
            <a:ext cx="51206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40680" y="4206240"/>
            <a:ext cx="188366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Prescriptions &amp; Diagnosis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98664" y="3547872"/>
            <a:ext cx="2157984" cy="1755648"/>
          </a:xfrm>
          <a:prstGeom prst="roundRect">
            <a:avLst>
              <a:gd name="adj" fmla="val 8333"/>
            </a:avLst>
          </a:prstGeom>
          <a:solidFill>
            <a:srgbClr val="DAF4EF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54112" y="3685032"/>
            <a:ext cx="51206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54112" y="4206240"/>
            <a:ext cx="188366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&amp; Payments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912096" y="3547872"/>
            <a:ext cx="2157984" cy="1755648"/>
          </a:xfrm>
          <a:prstGeom prst="roundRect">
            <a:avLst>
              <a:gd name="adj" fmla="val 8333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67544" y="3685032"/>
            <a:ext cx="51206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067544" y="4206240"/>
            <a:ext cx="188366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&amp; Reporting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Role-based responsibilities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permissions help avoid accidental or unauthorized actions.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" y="1453896"/>
            <a:ext cx="2240280" cy="493776"/>
          </a:xfrm>
          <a:prstGeom prst="rect">
            <a:avLst/>
          </a:prstGeom>
          <a:solidFill>
            <a:srgbClr val="1125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545336"/>
            <a:ext cx="2112264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2953512" y="1453896"/>
            <a:ext cx="2478024" cy="493776"/>
          </a:xfrm>
          <a:prstGeom prst="rect">
            <a:avLst/>
          </a:prstGeom>
          <a:solidFill>
            <a:srgbClr val="008F8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545336"/>
            <a:ext cx="2350008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 Admin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5440680" y="1453896"/>
            <a:ext cx="2487168" cy="493776"/>
          </a:xfrm>
          <a:prstGeom prst="rect">
            <a:avLst/>
          </a:prstGeom>
          <a:solidFill>
            <a:srgbClr val="008F8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1545336"/>
            <a:ext cx="2359152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7936992" y="1453896"/>
            <a:ext cx="2148840" cy="493776"/>
          </a:xfrm>
          <a:prstGeom prst="rect">
            <a:avLst/>
          </a:prstGeom>
          <a:solidFill>
            <a:srgbClr val="008F8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545336"/>
            <a:ext cx="2020824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Receptionist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10085832" y="1453896"/>
            <a:ext cx="1371600" cy="493776"/>
          </a:xfrm>
          <a:prstGeom prst="rect">
            <a:avLst/>
          </a:prstGeom>
          <a:solidFill>
            <a:srgbClr val="008F8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0" y="1545336"/>
            <a:ext cx="1243584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704088" y="2002536"/>
            <a:ext cx="2240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112264"/>
            <a:ext cx="207568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staff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2953512" y="2002536"/>
            <a:ext cx="247802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35808" y="2112264"/>
            <a:ext cx="2313432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5440680" y="2002536"/>
            <a:ext cx="248716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22976" y="2112264"/>
            <a:ext cx="2322576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7936992" y="2002536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19288" y="2112264"/>
            <a:ext cx="198424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10085832" y="2002536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68128" y="2112264"/>
            <a:ext cx="120700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704088" y="2514600"/>
            <a:ext cx="2240280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2624328"/>
            <a:ext cx="207568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appointments</a:t>
            </a:r>
            <a:endParaRPr lang="en-US" sz="1270" dirty="0"/>
          </a:p>
        </p:txBody>
      </p:sp>
      <p:sp>
        <p:nvSpPr>
          <p:cNvPr id="30" name="Shape 28"/>
          <p:cNvSpPr/>
          <p:nvPr/>
        </p:nvSpPr>
        <p:spPr>
          <a:xfrm>
            <a:off x="2953512" y="2514600"/>
            <a:ext cx="2478024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35808" y="2624328"/>
            <a:ext cx="2313432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40" dirty="0"/>
          </a:p>
        </p:txBody>
      </p:sp>
      <p:sp>
        <p:nvSpPr>
          <p:cNvPr id="32" name="Shape 30"/>
          <p:cNvSpPr/>
          <p:nvPr/>
        </p:nvSpPr>
        <p:spPr>
          <a:xfrm>
            <a:off x="5440680" y="2514600"/>
            <a:ext cx="2487168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22976" y="2624328"/>
            <a:ext cx="2322576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7936992" y="2514600"/>
            <a:ext cx="2148840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19288" y="2624328"/>
            <a:ext cx="198424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40" dirty="0"/>
          </a:p>
        </p:txBody>
      </p:sp>
      <p:sp>
        <p:nvSpPr>
          <p:cNvPr id="36" name="Shape 34"/>
          <p:cNvSpPr/>
          <p:nvPr/>
        </p:nvSpPr>
        <p:spPr>
          <a:xfrm>
            <a:off x="10085832" y="2514600"/>
            <a:ext cx="1371600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68128" y="2624328"/>
            <a:ext cx="120700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only</a:t>
            </a:r>
            <a:endParaRPr lang="en-US" sz="1240" dirty="0"/>
          </a:p>
        </p:txBody>
      </p:sp>
      <p:sp>
        <p:nvSpPr>
          <p:cNvPr id="38" name="Shape 36"/>
          <p:cNvSpPr/>
          <p:nvPr/>
        </p:nvSpPr>
        <p:spPr>
          <a:xfrm>
            <a:off x="704088" y="3026664"/>
            <a:ext cx="2240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3136392"/>
            <a:ext cx="207568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records</a:t>
            </a:r>
            <a:endParaRPr lang="en-US" sz="1270" dirty="0"/>
          </a:p>
        </p:txBody>
      </p:sp>
      <p:sp>
        <p:nvSpPr>
          <p:cNvPr id="40" name="Shape 38"/>
          <p:cNvSpPr/>
          <p:nvPr/>
        </p:nvSpPr>
        <p:spPr>
          <a:xfrm>
            <a:off x="2953512" y="3026664"/>
            <a:ext cx="247802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5808" y="3136392"/>
            <a:ext cx="2313432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240" dirty="0"/>
          </a:p>
        </p:txBody>
      </p:sp>
      <p:sp>
        <p:nvSpPr>
          <p:cNvPr id="42" name="Shape 40"/>
          <p:cNvSpPr/>
          <p:nvPr/>
        </p:nvSpPr>
        <p:spPr>
          <a:xfrm>
            <a:off x="5440680" y="3026664"/>
            <a:ext cx="248716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22976" y="3136392"/>
            <a:ext cx="2322576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40" dirty="0"/>
          </a:p>
        </p:txBody>
      </p:sp>
      <p:sp>
        <p:nvSpPr>
          <p:cNvPr id="44" name="Shape 42"/>
          <p:cNvSpPr/>
          <p:nvPr/>
        </p:nvSpPr>
        <p:spPr>
          <a:xfrm>
            <a:off x="7936992" y="3026664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19288" y="3136392"/>
            <a:ext cx="198424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</a:t>
            </a:r>
            <a:endParaRPr lang="en-US" sz="1240" dirty="0"/>
          </a:p>
        </p:txBody>
      </p:sp>
      <p:sp>
        <p:nvSpPr>
          <p:cNvPr id="46" name="Shape 44"/>
          <p:cNvSpPr/>
          <p:nvPr/>
        </p:nvSpPr>
        <p:spPr>
          <a:xfrm>
            <a:off x="10085832" y="3026664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68128" y="3136392"/>
            <a:ext cx="120700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</a:t>
            </a:r>
            <a:endParaRPr lang="en-US" sz="1240" dirty="0"/>
          </a:p>
        </p:txBody>
      </p:sp>
      <p:sp>
        <p:nvSpPr>
          <p:cNvPr id="48" name="Shape 46"/>
          <p:cNvSpPr/>
          <p:nvPr/>
        </p:nvSpPr>
        <p:spPr>
          <a:xfrm>
            <a:off x="704088" y="3538728"/>
            <a:ext cx="2240280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6384" y="3648456"/>
            <a:ext cx="207568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Prescriptions</a:t>
            </a:r>
            <a:endParaRPr lang="en-US" sz="1270" dirty="0"/>
          </a:p>
        </p:txBody>
      </p:sp>
      <p:sp>
        <p:nvSpPr>
          <p:cNvPr id="50" name="Shape 48"/>
          <p:cNvSpPr/>
          <p:nvPr/>
        </p:nvSpPr>
        <p:spPr>
          <a:xfrm>
            <a:off x="2953512" y="3538728"/>
            <a:ext cx="2478024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35808" y="3648456"/>
            <a:ext cx="2313432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240" dirty="0"/>
          </a:p>
        </p:txBody>
      </p:sp>
      <p:sp>
        <p:nvSpPr>
          <p:cNvPr id="52" name="Shape 50"/>
          <p:cNvSpPr/>
          <p:nvPr/>
        </p:nvSpPr>
        <p:spPr>
          <a:xfrm>
            <a:off x="5440680" y="3538728"/>
            <a:ext cx="2487168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22976" y="3648456"/>
            <a:ext cx="2322576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40" dirty="0"/>
          </a:p>
        </p:txBody>
      </p:sp>
      <p:sp>
        <p:nvSpPr>
          <p:cNvPr id="54" name="Shape 52"/>
          <p:cNvSpPr/>
          <p:nvPr/>
        </p:nvSpPr>
        <p:spPr>
          <a:xfrm>
            <a:off x="7936992" y="3538728"/>
            <a:ext cx="2148840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19288" y="3648456"/>
            <a:ext cx="198424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240" dirty="0"/>
          </a:p>
        </p:txBody>
      </p:sp>
      <p:sp>
        <p:nvSpPr>
          <p:cNvPr id="56" name="Shape 54"/>
          <p:cNvSpPr/>
          <p:nvPr/>
        </p:nvSpPr>
        <p:spPr>
          <a:xfrm>
            <a:off x="10085832" y="3538728"/>
            <a:ext cx="1371600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68128" y="3648456"/>
            <a:ext cx="120700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240" dirty="0"/>
          </a:p>
        </p:txBody>
      </p:sp>
      <p:sp>
        <p:nvSpPr>
          <p:cNvPr id="58" name="Shape 56"/>
          <p:cNvSpPr/>
          <p:nvPr/>
        </p:nvSpPr>
        <p:spPr>
          <a:xfrm>
            <a:off x="704088" y="4050792"/>
            <a:ext cx="2240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6384" y="4160520"/>
            <a:ext cx="207568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&amp; receipts</a:t>
            </a:r>
            <a:endParaRPr lang="en-US" sz="1270" dirty="0"/>
          </a:p>
        </p:txBody>
      </p:sp>
      <p:sp>
        <p:nvSpPr>
          <p:cNvPr id="60" name="Shape 58"/>
          <p:cNvSpPr/>
          <p:nvPr/>
        </p:nvSpPr>
        <p:spPr>
          <a:xfrm>
            <a:off x="2953512" y="4050792"/>
            <a:ext cx="247802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35808" y="4160520"/>
            <a:ext cx="2313432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40" dirty="0"/>
          </a:p>
        </p:txBody>
      </p:sp>
      <p:sp>
        <p:nvSpPr>
          <p:cNvPr id="62" name="Shape 60"/>
          <p:cNvSpPr/>
          <p:nvPr/>
        </p:nvSpPr>
        <p:spPr>
          <a:xfrm>
            <a:off x="5440680" y="4050792"/>
            <a:ext cx="248716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22976" y="4160520"/>
            <a:ext cx="2322576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240" dirty="0"/>
          </a:p>
        </p:txBody>
      </p:sp>
      <p:sp>
        <p:nvSpPr>
          <p:cNvPr id="64" name="Shape 62"/>
          <p:cNvSpPr/>
          <p:nvPr/>
        </p:nvSpPr>
        <p:spPr>
          <a:xfrm>
            <a:off x="7936992" y="4050792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19288" y="4160520"/>
            <a:ext cx="198424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40" dirty="0"/>
          </a:p>
        </p:txBody>
      </p:sp>
      <p:sp>
        <p:nvSpPr>
          <p:cNvPr id="66" name="Shape 64"/>
          <p:cNvSpPr/>
          <p:nvPr/>
        </p:nvSpPr>
        <p:spPr>
          <a:xfrm>
            <a:off x="10085832" y="4050792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168128" y="4160520"/>
            <a:ext cx="120700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</a:t>
            </a:r>
            <a:endParaRPr lang="en-US" sz="1240" dirty="0"/>
          </a:p>
        </p:txBody>
      </p:sp>
      <p:sp>
        <p:nvSpPr>
          <p:cNvPr id="68" name="Shape 66"/>
          <p:cNvSpPr/>
          <p:nvPr/>
        </p:nvSpPr>
        <p:spPr>
          <a:xfrm>
            <a:off x="704088" y="4562856"/>
            <a:ext cx="2240280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6384" y="4672584"/>
            <a:ext cx="207568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OTP security policy</a:t>
            </a:r>
            <a:endParaRPr lang="en-US" sz="1270" dirty="0"/>
          </a:p>
        </p:txBody>
      </p:sp>
      <p:sp>
        <p:nvSpPr>
          <p:cNvPr id="70" name="Shape 68"/>
          <p:cNvSpPr/>
          <p:nvPr/>
        </p:nvSpPr>
        <p:spPr>
          <a:xfrm>
            <a:off x="2953512" y="4562856"/>
            <a:ext cx="2478024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35808" y="4672584"/>
            <a:ext cx="2313432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40" dirty="0"/>
          </a:p>
        </p:txBody>
      </p:sp>
      <p:sp>
        <p:nvSpPr>
          <p:cNvPr id="72" name="Shape 70"/>
          <p:cNvSpPr/>
          <p:nvPr/>
        </p:nvSpPr>
        <p:spPr>
          <a:xfrm>
            <a:off x="5440680" y="4562856"/>
            <a:ext cx="2487168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22976" y="4672584"/>
            <a:ext cx="2322576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240" dirty="0"/>
          </a:p>
        </p:txBody>
      </p:sp>
      <p:sp>
        <p:nvSpPr>
          <p:cNvPr id="74" name="Shape 72"/>
          <p:cNvSpPr/>
          <p:nvPr/>
        </p:nvSpPr>
        <p:spPr>
          <a:xfrm>
            <a:off x="7936992" y="4562856"/>
            <a:ext cx="2148840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19288" y="4672584"/>
            <a:ext cx="198424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240" dirty="0"/>
          </a:p>
        </p:txBody>
      </p:sp>
      <p:sp>
        <p:nvSpPr>
          <p:cNvPr id="76" name="Shape 74"/>
          <p:cNvSpPr/>
          <p:nvPr/>
        </p:nvSpPr>
        <p:spPr>
          <a:xfrm>
            <a:off x="10085832" y="4562856"/>
            <a:ext cx="1371600" cy="502920"/>
          </a:xfrm>
          <a:prstGeom prst="rect">
            <a:avLst/>
          </a:prstGeom>
          <a:solidFill>
            <a:srgbClr val="F6F9FC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168128" y="4672584"/>
            <a:ext cx="120700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240" dirty="0"/>
          </a:p>
        </p:txBody>
      </p:sp>
      <p:sp>
        <p:nvSpPr>
          <p:cNvPr id="78" name="Shape 76"/>
          <p:cNvSpPr/>
          <p:nvPr/>
        </p:nvSpPr>
        <p:spPr>
          <a:xfrm>
            <a:off x="704088" y="5074920"/>
            <a:ext cx="2240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6384" y="5184648"/>
            <a:ext cx="207568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/ insights</a:t>
            </a:r>
            <a:endParaRPr lang="en-US" sz="1270" dirty="0"/>
          </a:p>
        </p:txBody>
      </p:sp>
      <p:sp>
        <p:nvSpPr>
          <p:cNvPr id="80" name="Shape 78"/>
          <p:cNvSpPr/>
          <p:nvPr/>
        </p:nvSpPr>
        <p:spPr>
          <a:xfrm>
            <a:off x="2953512" y="5074920"/>
            <a:ext cx="247802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035808" y="5184648"/>
            <a:ext cx="2313432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40" dirty="0"/>
          </a:p>
        </p:txBody>
      </p:sp>
      <p:sp>
        <p:nvSpPr>
          <p:cNvPr id="82" name="Shape 80"/>
          <p:cNvSpPr/>
          <p:nvPr/>
        </p:nvSpPr>
        <p:spPr>
          <a:xfrm>
            <a:off x="5440680" y="5074920"/>
            <a:ext cx="248716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22976" y="5184648"/>
            <a:ext cx="2322576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240" dirty="0"/>
          </a:p>
        </p:txBody>
      </p:sp>
      <p:sp>
        <p:nvSpPr>
          <p:cNvPr id="84" name="Shape 82"/>
          <p:cNvSpPr/>
          <p:nvPr/>
        </p:nvSpPr>
        <p:spPr>
          <a:xfrm>
            <a:off x="7936992" y="507492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019288" y="5184648"/>
            <a:ext cx="198424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240" dirty="0"/>
          </a:p>
        </p:txBody>
      </p:sp>
      <p:sp>
        <p:nvSpPr>
          <p:cNvPr id="86" name="Shape 84"/>
          <p:cNvSpPr/>
          <p:nvPr/>
        </p:nvSpPr>
        <p:spPr>
          <a:xfrm>
            <a:off x="10085832" y="507492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168128" y="5184648"/>
            <a:ext cx="120700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240" dirty="0"/>
          </a:p>
        </p:txBody>
      </p:sp>
      <p:sp>
        <p:nvSpPr>
          <p:cNvPr id="88" name="Text 86"/>
          <p:cNvSpPr/>
          <p:nvPr/>
        </p:nvSpPr>
        <p:spPr>
          <a:xfrm>
            <a:off x="731520" y="5870448"/>
            <a:ext cx="10607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to records and actions is restricted by each role’s permissions.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Overall system workflow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secure login to a successful database update.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56232"/>
            <a:ext cx="1773936" cy="2240280"/>
          </a:xfrm>
          <a:prstGeom prst="roundRect">
            <a:avLst>
              <a:gd name="adj" fmla="val 8247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039112"/>
            <a:ext cx="48463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0664" y="2752344"/>
            <a:ext cx="14813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0664" y="3218688"/>
            <a:ext cx="150876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enters account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2377440" y="2743200"/>
            <a:ext cx="128016" cy="292608"/>
          </a:xfrm>
          <a:prstGeom prst="chevron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1856232"/>
            <a:ext cx="1773936" cy="2240280"/>
          </a:xfrm>
          <a:prstGeom prst="roundRect">
            <a:avLst>
              <a:gd name="adj" fmla="val 8247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6624" y="2039112"/>
            <a:ext cx="48463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688336" y="2752344"/>
            <a:ext cx="14813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88336" y="3218688"/>
            <a:ext cx="150876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credentials &amp; OTP*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4325112" y="2743200"/>
            <a:ext cx="128016" cy="292608"/>
          </a:xfrm>
          <a:prstGeom prst="chevron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9704" y="1856232"/>
            <a:ext cx="1773936" cy="2240280"/>
          </a:xfrm>
          <a:prstGeom prst="roundRect">
            <a:avLst>
              <a:gd name="adj" fmla="val 8247"/>
            </a:avLst>
          </a:prstGeom>
          <a:solidFill>
            <a:srgbClr val="DAF4EF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2039112"/>
            <a:ext cx="48463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636008" y="2752344"/>
            <a:ext cx="14813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36008" y="3218688"/>
            <a:ext cx="150876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Determine user role</a:t>
            </a:r>
            <a:endParaRPr lang="en-US" sz="1170" dirty="0"/>
          </a:p>
        </p:txBody>
      </p:sp>
      <p:sp>
        <p:nvSpPr>
          <p:cNvPr id="22" name="Shape 20"/>
          <p:cNvSpPr/>
          <p:nvPr/>
        </p:nvSpPr>
        <p:spPr>
          <a:xfrm>
            <a:off x="6272784" y="2743200"/>
            <a:ext cx="128016" cy="292608"/>
          </a:xfrm>
          <a:prstGeom prst="chevron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37376" y="1856232"/>
            <a:ext cx="1773936" cy="2240280"/>
          </a:xfrm>
          <a:prstGeom prst="roundRect">
            <a:avLst>
              <a:gd name="adj" fmla="val 8247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2039112"/>
            <a:ext cx="48463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583680" y="2752344"/>
            <a:ext cx="14813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83680" y="3218688"/>
            <a:ext cx="150876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permitted actions</a:t>
            </a:r>
            <a:endParaRPr lang="en-US" sz="1170" dirty="0"/>
          </a:p>
        </p:txBody>
      </p:sp>
      <p:sp>
        <p:nvSpPr>
          <p:cNvPr id="27" name="Shape 25"/>
          <p:cNvSpPr/>
          <p:nvPr/>
        </p:nvSpPr>
        <p:spPr>
          <a:xfrm>
            <a:off x="8220456" y="2743200"/>
            <a:ext cx="128016" cy="292608"/>
          </a:xfrm>
          <a:prstGeom prst="chevron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85048" y="1856232"/>
            <a:ext cx="1773936" cy="2240280"/>
          </a:xfrm>
          <a:prstGeom prst="roundRect">
            <a:avLst>
              <a:gd name="adj" fmla="val 8247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2039112"/>
            <a:ext cx="48463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531352" y="2752344"/>
            <a:ext cx="14813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31352" y="3218688"/>
            <a:ext cx="150876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Book, update or review</a:t>
            </a:r>
            <a:endParaRPr lang="en-US" sz="1170" dirty="0"/>
          </a:p>
        </p:txBody>
      </p:sp>
      <p:sp>
        <p:nvSpPr>
          <p:cNvPr id="32" name="Shape 30"/>
          <p:cNvSpPr/>
          <p:nvPr/>
        </p:nvSpPr>
        <p:spPr>
          <a:xfrm>
            <a:off x="10168128" y="2743200"/>
            <a:ext cx="128016" cy="292608"/>
          </a:xfrm>
          <a:prstGeom prst="chevron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32720" y="1856232"/>
            <a:ext cx="1773936" cy="2240280"/>
          </a:xfrm>
          <a:prstGeom prst="roundRect">
            <a:avLst>
              <a:gd name="adj" fmla="val 8247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97312" y="2039112"/>
            <a:ext cx="48463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0479024" y="2752344"/>
            <a:ext cx="14813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/ View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479024" y="3218688"/>
            <a:ext cx="150876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and feedback</a:t>
            </a:r>
            <a:endParaRPr lang="en-US" sz="1170" dirty="0"/>
          </a:p>
        </p:txBody>
      </p:sp>
      <p:sp>
        <p:nvSpPr>
          <p:cNvPr id="37" name="Shape 35"/>
          <p:cNvSpPr/>
          <p:nvPr/>
        </p:nvSpPr>
        <p:spPr>
          <a:xfrm>
            <a:off x="1591056" y="4828032"/>
            <a:ext cx="9015984" cy="694944"/>
          </a:xfrm>
          <a:prstGeom prst="roundRect">
            <a:avLst>
              <a:gd name="adj" fmla="val 21053"/>
            </a:avLst>
          </a:prstGeom>
          <a:solidFill>
            <a:srgbClr val="EAF4FA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19656" y="5029200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Email OTP verification is enabled or disabled globally by the Super Admin.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system architecture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browser-based application powered by Django and a central database.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1353312"/>
            <a:ext cx="8439912" cy="950976"/>
          </a:xfrm>
          <a:prstGeom prst="roundRect">
            <a:avLst>
              <a:gd name="adj" fmla="val 15385"/>
            </a:avLst>
          </a:prstGeom>
          <a:solidFill>
            <a:srgbClr val="EAF4FA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12264" y="1517904"/>
            <a:ext cx="286207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1499616"/>
            <a:ext cx="542239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1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 •  Doctor  •  Receptionist  •  Patient</a:t>
            </a:r>
            <a:endParaRPr lang="en-US" sz="1510" dirty="0"/>
          </a:p>
        </p:txBody>
      </p:sp>
      <p:sp>
        <p:nvSpPr>
          <p:cNvPr id="11" name="Shape 9"/>
          <p:cNvSpPr/>
          <p:nvPr/>
        </p:nvSpPr>
        <p:spPr>
          <a:xfrm rot="5400000">
            <a:off x="5989320" y="2304288"/>
            <a:ext cx="237744" cy="228600"/>
          </a:xfrm>
          <a:prstGeom prst="chevron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2551176"/>
            <a:ext cx="8439912" cy="950976"/>
          </a:xfrm>
          <a:prstGeom prst="roundRect">
            <a:avLst>
              <a:gd name="adj" fmla="val 15385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12264" y="2715768"/>
            <a:ext cx="286207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697480"/>
            <a:ext cx="542239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1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 •  CSS  •  JavaScript  •  Bootstrap</a:t>
            </a:r>
            <a:endParaRPr lang="en-US" sz="1510" dirty="0"/>
          </a:p>
        </p:txBody>
      </p:sp>
      <p:sp>
        <p:nvSpPr>
          <p:cNvPr id="15" name="Shape 13"/>
          <p:cNvSpPr/>
          <p:nvPr/>
        </p:nvSpPr>
        <p:spPr>
          <a:xfrm rot="5400000">
            <a:off x="5989320" y="3502152"/>
            <a:ext cx="237744" cy="228600"/>
          </a:xfrm>
          <a:prstGeom prst="chevron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749040"/>
            <a:ext cx="8439912" cy="950976"/>
          </a:xfrm>
          <a:prstGeom prst="roundRect">
            <a:avLst>
              <a:gd name="adj" fmla="val 15385"/>
            </a:avLst>
          </a:prstGeom>
          <a:solidFill>
            <a:srgbClr val="DAF4EF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12264" y="3913632"/>
            <a:ext cx="286207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&amp; SECURITY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3895344"/>
            <a:ext cx="542239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1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Django  •  Role authorization  •  OTP policy  •  Business logic</a:t>
            </a:r>
            <a:endParaRPr lang="en-US" sz="1510" dirty="0"/>
          </a:p>
        </p:txBody>
      </p:sp>
      <p:sp>
        <p:nvSpPr>
          <p:cNvPr id="19" name="Shape 17"/>
          <p:cNvSpPr/>
          <p:nvPr/>
        </p:nvSpPr>
        <p:spPr>
          <a:xfrm rot="5400000">
            <a:off x="5989320" y="4700016"/>
            <a:ext cx="237744" cy="228600"/>
          </a:xfrm>
          <a:prstGeom prst="chevron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74520" y="4946904"/>
            <a:ext cx="8439912" cy="950976"/>
          </a:xfrm>
          <a:prstGeom prst="roundRect">
            <a:avLst>
              <a:gd name="adj" fmla="val 15385"/>
            </a:avLst>
          </a:prstGeom>
          <a:solidFill>
            <a:srgbClr val="EAF4FA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12264" y="5111496"/>
            <a:ext cx="286207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17720" y="5093208"/>
            <a:ext cx="542239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1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/ SQLite  •  User, Appointment, Prescription, Bill</a:t>
            </a:r>
            <a:endParaRPr lang="en-US" sz="15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Appointment management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consistent flow from booking to consultation or no-show.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1463040"/>
            <a:ext cx="5340096" cy="1691640"/>
          </a:xfrm>
          <a:prstGeom prst="roundRect">
            <a:avLst>
              <a:gd name="adj" fmla="val 8649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819656"/>
            <a:ext cx="694944" cy="694944"/>
          </a:xfrm>
          <a:prstGeom prst="ellipse">
            <a:avLst/>
          </a:prstGeom>
          <a:solidFill>
            <a:srgbClr val="11253D"/>
          </a:solidFill>
          <a:ln w="12700">
            <a:solidFill>
              <a:srgbClr val="112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1993392"/>
            <a:ext cx="29260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37944" y="1837944"/>
            <a:ext cx="397764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doctor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1837944" y="2313432"/>
            <a:ext cx="3977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available doctors and times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64808" y="1463040"/>
            <a:ext cx="5340096" cy="1691640"/>
          </a:xfrm>
          <a:prstGeom prst="roundRect">
            <a:avLst>
              <a:gd name="adj" fmla="val 8649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65976" y="1819656"/>
            <a:ext cx="694944" cy="694944"/>
          </a:xfrm>
          <a:prstGeom prst="ellipse">
            <a:avLst/>
          </a:prstGeom>
          <a:solidFill>
            <a:srgbClr val="11253D"/>
          </a:solidFill>
          <a:ln w="12700">
            <a:solidFill>
              <a:srgbClr val="112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67144" y="1993392"/>
            <a:ext cx="29260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543800" y="1837944"/>
            <a:ext cx="397764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appointment</a:t>
            </a:r>
            <a:endParaRPr lang="en-US" sz="1720" dirty="0"/>
          </a:p>
        </p:txBody>
      </p:sp>
      <p:sp>
        <p:nvSpPr>
          <p:cNvPr id="17" name="Text 15"/>
          <p:cNvSpPr/>
          <p:nvPr/>
        </p:nvSpPr>
        <p:spPr>
          <a:xfrm>
            <a:off x="7543800" y="2313432"/>
            <a:ext cx="3977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slot and create appointment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8952" y="3474720"/>
            <a:ext cx="5340096" cy="1691640"/>
          </a:xfrm>
          <a:prstGeom prst="roundRect">
            <a:avLst>
              <a:gd name="adj" fmla="val 8649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3831336"/>
            <a:ext cx="694944" cy="694944"/>
          </a:xfrm>
          <a:prstGeom prst="ellipse">
            <a:avLst/>
          </a:prstGeom>
          <a:solidFill>
            <a:srgbClr val="11253D"/>
          </a:solidFill>
          <a:ln w="12700">
            <a:solidFill>
              <a:srgbClr val="112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1288" y="4005072"/>
            <a:ext cx="29260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837944" y="3849624"/>
            <a:ext cx="397764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/ update</a:t>
            </a:r>
            <a:endParaRPr lang="en-US" sz="1720" dirty="0"/>
          </a:p>
        </p:txBody>
      </p:sp>
      <p:sp>
        <p:nvSpPr>
          <p:cNvPr id="22" name="Text 20"/>
          <p:cNvSpPr/>
          <p:nvPr/>
        </p:nvSpPr>
        <p:spPr>
          <a:xfrm>
            <a:off x="1837944" y="4325112"/>
            <a:ext cx="3977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Receptionist manages booking status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64808" y="3474720"/>
            <a:ext cx="5340096" cy="1691640"/>
          </a:xfrm>
          <a:prstGeom prst="roundRect">
            <a:avLst>
              <a:gd name="adj" fmla="val 8649"/>
            </a:avLst>
          </a:prstGeom>
          <a:solidFill>
            <a:srgbClr val="DAF4EF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65976" y="3831336"/>
            <a:ext cx="694944" cy="69494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67144" y="4005072"/>
            <a:ext cx="29260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543800" y="3849624"/>
            <a:ext cx="397764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 outcome</a:t>
            </a:r>
            <a:endParaRPr lang="en-US" sz="1720" dirty="0"/>
          </a:p>
        </p:txBody>
      </p:sp>
      <p:sp>
        <p:nvSpPr>
          <p:cNvPr id="27" name="Text 25"/>
          <p:cNvSpPr/>
          <p:nvPr/>
        </p:nvSpPr>
        <p:spPr>
          <a:xfrm>
            <a:off x="7543800" y="4325112"/>
            <a:ext cx="3977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consults or no-show is recorded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41832" y="5715000"/>
            <a:ext cx="2788920" cy="320040"/>
          </a:xfrm>
          <a:prstGeom prst="roundRect">
            <a:avLst>
              <a:gd name="adj" fmla="val 45714"/>
            </a:avLst>
          </a:prstGeom>
          <a:solidFill>
            <a:srgbClr val="DAF4EF"/>
          </a:solidFill>
          <a:ln w="8890">
            <a:solidFill>
              <a:srgbClr val="DAF4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" y="5733288"/>
            <a:ext cx="2715768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→ automatic bill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050792" y="5715000"/>
            <a:ext cx="3794760" cy="320040"/>
          </a:xfrm>
          <a:prstGeom prst="roundRect">
            <a:avLst>
              <a:gd name="adj" fmla="val 45714"/>
            </a:avLst>
          </a:prstGeom>
          <a:solidFill>
            <a:srgbClr val="FFF2E4"/>
          </a:solidFill>
          <a:ln w="8890">
            <a:solidFill>
              <a:srgbClr val="FFF2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87368" y="5733288"/>
            <a:ext cx="3721608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8E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confirmed visit → no-show fee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important business rules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billing logic and flexible login security.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" y="1499616"/>
            <a:ext cx="5276088" cy="4370832"/>
          </a:xfrm>
          <a:prstGeom prst="roundRect">
            <a:avLst>
              <a:gd name="adj" fmla="val 3347"/>
            </a:avLst>
          </a:prstGeom>
          <a:solidFill>
            <a:srgbClr val="EAF4FA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08776" y="1499616"/>
            <a:ext cx="5276088" cy="4370832"/>
          </a:xfrm>
          <a:prstGeom prst="roundRect">
            <a:avLst>
              <a:gd name="adj" fmla="val 3347"/>
            </a:avLst>
          </a:prstGeom>
          <a:solidFill>
            <a:srgbClr val="DAF4EF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773936"/>
            <a:ext cx="27432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3D77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BILLING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2276856"/>
            <a:ext cx="4498848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appointment booking creates a billing record.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60704" y="3822192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703320"/>
            <a:ext cx="4279392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No-show fee for a missed confirmed visit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1060704" y="4334256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4215384"/>
            <a:ext cx="4279392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Authorized staff record front-desk payments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1060704" y="4846320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4727448"/>
            <a:ext cx="4279392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see their own bills and receipts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6565392" y="1773936"/>
            <a:ext cx="3657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OTP VERIFICATION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65392" y="2276856"/>
            <a:ext cx="4462272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Super Admin controls OTP for all user logins.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574536" y="3822192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3703320"/>
            <a:ext cx="4306824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or disable in Security Settings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6574536" y="4334256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3992" y="4215384"/>
            <a:ext cx="4306824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code changes required</a:t>
            </a:r>
            <a:endParaRPr lang="en-US" sz="1340" dirty="0"/>
          </a:p>
        </p:txBody>
      </p:sp>
      <p:sp>
        <p:nvSpPr>
          <p:cNvPr id="24" name="Shape 22"/>
          <p:cNvSpPr/>
          <p:nvPr/>
        </p:nvSpPr>
        <p:spPr>
          <a:xfrm>
            <a:off x="6574536" y="4846320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4727448"/>
            <a:ext cx="4306824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 remains in place</a:t>
            </a:r>
            <a:endParaRPr lang="en-US" sz="1340" dirty="0"/>
          </a:p>
        </p:txBody>
      </p:sp>
      <p:sp>
        <p:nvSpPr>
          <p:cNvPr id="26" name="Text 24"/>
          <p:cNvSpPr/>
          <p:nvPr/>
        </p:nvSpPr>
        <p:spPr>
          <a:xfrm>
            <a:off x="969264" y="6089904"/>
            <a:ext cx="10332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payment gateway is not included in the current project scope.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Use-case diagram: all roles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consolidated overview of user interaction with the HMS.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0963656" cy="4855464"/>
          </a:xfrm>
          <a:prstGeom prst="roundRect">
            <a:avLst>
              <a:gd name="adj" fmla="val 3013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99616"/>
            <a:ext cx="50292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MANAGEMENT SYSTEM BOUNDARY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938528"/>
            <a:ext cx="202996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 Admin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066544" y="2359152"/>
            <a:ext cx="320040" cy="320040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31136" y="2688336"/>
            <a:ext cx="0" cy="347472"/>
          </a:xfrm>
          <a:prstGeom prst="line">
            <a:avLst/>
          </a:prstGeom>
          <a:noFill/>
          <a:ln w="24130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965960" y="2852928"/>
            <a:ext cx="539496" cy="0"/>
          </a:xfrm>
          <a:prstGeom prst="line">
            <a:avLst/>
          </a:prstGeom>
          <a:noFill/>
          <a:ln w="24130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231136" y="3035808"/>
            <a:ext cx="228600" cy="265176"/>
          </a:xfrm>
          <a:prstGeom prst="line">
            <a:avLst/>
          </a:prstGeom>
          <a:noFill/>
          <a:ln w="24130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143000" y="3694176"/>
            <a:ext cx="2212848" cy="475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8F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3739896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staff &amp; hospital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31136" y="3310128"/>
            <a:ext cx="0" cy="374904"/>
          </a:xfrm>
          <a:prstGeom prst="line">
            <a:avLst/>
          </a:prstGeom>
          <a:noFill/>
          <a:ln w="12700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231136" y="4178808"/>
            <a:ext cx="0" cy="109728"/>
          </a:xfrm>
          <a:prstGeom prst="line">
            <a:avLst/>
          </a:prstGeom>
          <a:noFill/>
          <a:ln w="12700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143000" y="4297680"/>
            <a:ext cx="2212848" cy="475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8F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584" y="4343400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OTP settings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31136" y="4782312"/>
            <a:ext cx="0" cy="109728"/>
          </a:xfrm>
          <a:prstGeom prst="line">
            <a:avLst/>
          </a:prstGeom>
          <a:noFill/>
          <a:ln w="12700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143000" y="4901184"/>
            <a:ext cx="2212848" cy="475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8F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43584" y="4946904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&amp; reports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03904" y="1938528"/>
            <a:ext cx="202996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D77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4663440" y="2359152"/>
            <a:ext cx="320040" cy="320040"/>
          </a:xfrm>
          <a:prstGeom prst="ellipse">
            <a:avLst/>
          </a:prstGeom>
          <a:solidFill>
            <a:srgbClr val="3D77A4"/>
          </a:solidFill>
          <a:ln w="12700">
            <a:solidFill>
              <a:srgbClr val="3D77A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2688336"/>
            <a:ext cx="0" cy="347472"/>
          </a:xfrm>
          <a:prstGeom prst="line">
            <a:avLst/>
          </a:prstGeom>
          <a:noFill/>
          <a:ln w="24130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562856" y="2852928"/>
            <a:ext cx="539496" cy="0"/>
          </a:xfrm>
          <a:prstGeom prst="line">
            <a:avLst/>
          </a:prstGeom>
          <a:noFill/>
          <a:ln w="24130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4828032" y="3035808"/>
            <a:ext cx="228600" cy="265176"/>
          </a:xfrm>
          <a:prstGeom prst="line">
            <a:avLst/>
          </a:prstGeom>
          <a:noFill/>
          <a:ln w="24130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3739896" y="3694176"/>
            <a:ext cx="2212848" cy="475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3D77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3739896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appointments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28032" y="3310128"/>
            <a:ext cx="0" cy="374904"/>
          </a:xfrm>
          <a:prstGeom prst="line">
            <a:avLst/>
          </a:prstGeom>
          <a:noFill/>
          <a:ln w="12700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4828032" y="4178808"/>
            <a:ext cx="0" cy="109728"/>
          </a:xfrm>
          <a:prstGeom prst="line">
            <a:avLst/>
          </a:prstGeom>
          <a:noFill/>
          <a:ln w="12700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3739896" y="4297680"/>
            <a:ext cx="2212848" cy="475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3D77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4343400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 &amp; prescription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28032" y="4782312"/>
            <a:ext cx="0" cy="109728"/>
          </a:xfrm>
          <a:prstGeom prst="line">
            <a:avLst/>
          </a:prstGeom>
          <a:noFill/>
          <a:ln w="12700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3739896" y="4901184"/>
            <a:ext cx="2212848" cy="475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3D77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0" y="4946904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own schedule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37376" y="1938528"/>
            <a:ext cx="202996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08E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Receptionist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7296912" y="2359152"/>
            <a:ext cx="320040" cy="320040"/>
          </a:xfrm>
          <a:prstGeom prst="ellipse">
            <a:avLst/>
          </a:prstGeom>
          <a:solidFill>
            <a:srgbClr val="D08E47"/>
          </a:solidFill>
          <a:ln w="12700">
            <a:solidFill>
              <a:srgbClr val="D08E4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61504" y="2688336"/>
            <a:ext cx="0" cy="347472"/>
          </a:xfrm>
          <a:prstGeom prst="line">
            <a:avLst/>
          </a:prstGeom>
          <a:noFill/>
          <a:ln w="24130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7196328" y="2852928"/>
            <a:ext cx="539496" cy="0"/>
          </a:xfrm>
          <a:prstGeom prst="line">
            <a:avLst/>
          </a:prstGeom>
          <a:noFill/>
          <a:ln w="24130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7461504" y="3035808"/>
            <a:ext cx="228600" cy="265176"/>
          </a:xfrm>
          <a:prstGeom prst="line">
            <a:avLst/>
          </a:prstGeom>
          <a:noFill/>
          <a:ln w="24130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6373368" y="3694176"/>
            <a:ext cx="2212848" cy="475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08E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3739896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patients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61504" y="3310128"/>
            <a:ext cx="0" cy="374904"/>
          </a:xfrm>
          <a:prstGeom prst="line">
            <a:avLst/>
          </a:prstGeom>
          <a:noFill/>
          <a:ln w="12700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7461504" y="4178808"/>
            <a:ext cx="0" cy="109728"/>
          </a:xfrm>
          <a:prstGeom prst="line">
            <a:avLst/>
          </a:prstGeom>
          <a:noFill/>
          <a:ln w="12700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6373368" y="4297680"/>
            <a:ext cx="2212848" cy="475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08E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4343400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appointments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61504" y="4782312"/>
            <a:ext cx="0" cy="109728"/>
          </a:xfrm>
          <a:prstGeom prst="line">
            <a:avLst/>
          </a:prstGeom>
          <a:noFill/>
          <a:ln w="12700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6373368" y="4901184"/>
            <a:ext cx="2212848" cy="475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08E4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73952" y="4946904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payments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079992" y="1938528"/>
            <a:ext cx="202996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786B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</a:t>
            </a:r>
            <a:endParaRPr lang="en-US" sz="1450" dirty="0"/>
          </a:p>
        </p:txBody>
      </p:sp>
      <p:sp>
        <p:nvSpPr>
          <p:cNvPr id="56" name="Shape 54"/>
          <p:cNvSpPr/>
          <p:nvPr/>
        </p:nvSpPr>
        <p:spPr>
          <a:xfrm>
            <a:off x="9939528" y="2359152"/>
            <a:ext cx="320040" cy="320040"/>
          </a:xfrm>
          <a:prstGeom prst="ellipse">
            <a:avLst/>
          </a:prstGeom>
          <a:solidFill>
            <a:srgbClr val="786BB1"/>
          </a:solidFill>
          <a:ln w="12700">
            <a:solidFill>
              <a:srgbClr val="786BB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04120" y="2688336"/>
            <a:ext cx="0" cy="347472"/>
          </a:xfrm>
          <a:prstGeom prst="line">
            <a:avLst/>
          </a:prstGeom>
          <a:noFill/>
          <a:ln w="24130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9838944" y="2852928"/>
            <a:ext cx="539496" cy="0"/>
          </a:xfrm>
          <a:prstGeom prst="line">
            <a:avLst/>
          </a:prstGeom>
          <a:noFill/>
          <a:ln w="24130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10104120" y="3035808"/>
            <a:ext cx="228600" cy="265176"/>
          </a:xfrm>
          <a:prstGeom prst="line">
            <a:avLst/>
          </a:prstGeom>
          <a:noFill/>
          <a:ln w="24130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9015984" y="3694176"/>
            <a:ext cx="2212848" cy="475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86BB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16568" y="3739896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an appointment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104120" y="3310128"/>
            <a:ext cx="0" cy="374904"/>
          </a:xfrm>
          <a:prstGeom prst="line">
            <a:avLst/>
          </a:prstGeom>
          <a:noFill/>
          <a:ln w="12700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10104120" y="4178808"/>
            <a:ext cx="0" cy="109728"/>
          </a:xfrm>
          <a:prstGeom prst="line">
            <a:avLst/>
          </a:prstGeom>
          <a:noFill/>
          <a:ln w="12700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9015984" y="4297680"/>
            <a:ext cx="2212848" cy="475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86BB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16568" y="4343400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records &amp; bills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0104120" y="4782312"/>
            <a:ext cx="0" cy="109728"/>
          </a:xfrm>
          <a:prstGeom prst="line">
            <a:avLst/>
          </a:prstGeom>
          <a:noFill/>
          <a:ln w="12700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9015984" y="4901184"/>
            <a:ext cx="2212848" cy="475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86BB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116568" y="4946904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own profile</a:t>
            </a:r>
            <a:endParaRPr lang="en-US" sz="1100" dirty="0"/>
          </a:p>
        </p:txBody>
      </p:sp>
      <p:sp>
        <p:nvSpPr>
          <p:cNvPr id="71" name="Shape 13">
            <a:extLst>
              <a:ext uri="{FF2B5EF4-FFF2-40B4-BE49-F238E27FC236}">
                <a16:creationId xmlns:a16="http://schemas.microsoft.com/office/drawing/2014/main" id="{7A3145EB-78EE-7A2C-F84B-DE28708E11CF}"/>
              </a:ext>
            </a:extLst>
          </p:cNvPr>
          <p:cNvSpPr/>
          <p:nvPr/>
        </p:nvSpPr>
        <p:spPr>
          <a:xfrm flipH="1">
            <a:off x="2003298" y="3035427"/>
            <a:ext cx="228600" cy="265176"/>
          </a:xfrm>
          <a:prstGeom prst="line">
            <a:avLst/>
          </a:prstGeom>
          <a:noFill/>
          <a:ln w="24130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73" name="Shape 28">
            <a:extLst>
              <a:ext uri="{FF2B5EF4-FFF2-40B4-BE49-F238E27FC236}">
                <a16:creationId xmlns:a16="http://schemas.microsoft.com/office/drawing/2014/main" id="{1C5A6B17-B9B2-130C-0DD5-64254BF12A1F}"/>
              </a:ext>
            </a:extLst>
          </p:cNvPr>
          <p:cNvSpPr/>
          <p:nvPr/>
        </p:nvSpPr>
        <p:spPr>
          <a:xfrm flipH="1">
            <a:off x="4599432" y="3035808"/>
            <a:ext cx="228600" cy="265176"/>
          </a:xfrm>
          <a:prstGeom prst="line">
            <a:avLst/>
          </a:prstGeom>
          <a:noFill/>
          <a:ln w="24130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75" name="Shape 43">
            <a:extLst>
              <a:ext uri="{FF2B5EF4-FFF2-40B4-BE49-F238E27FC236}">
                <a16:creationId xmlns:a16="http://schemas.microsoft.com/office/drawing/2014/main" id="{40415DC5-5D55-2894-65B1-0E740A5B59A6}"/>
              </a:ext>
            </a:extLst>
          </p:cNvPr>
          <p:cNvSpPr/>
          <p:nvPr/>
        </p:nvSpPr>
        <p:spPr>
          <a:xfrm flipH="1">
            <a:off x="7236333" y="3031236"/>
            <a:ext cx="228600" cy="265176"/>
          </a:xfrm>
          <a:prstGeom prst="line">
            <a:avLst/>
          </a:prstGeom>
          <a:noFill/>
          <a:ln w="24130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77" name="Shape 58">
            <a:extLst>
              <a:ext uri="{FF2B5EF4-FFF2-40B4-BE49-F238E27FC236}">
                <a16:creationId xmlns:a16="http://schemas.microsoft.com/office/drawing/2014/main" id="{05A15727-50B8-6D05-12EB-13E7C5F04799}"/>
              </a:ext>
            </a:extLst>
          </p:cNvPr>
          <p:cNvSpPr/>
          <p:nvPr/>
        </p:nvSpPr>
        <p:spPr>
          <a:xfrm flipH="1">
            <a:off x="9875520" y="3035808"/>
            <a:ext cx="228600" cy="265176"/>
          </a:xfrm>
          <a:prstGeom prst="line">
            <a:avLst/>
          </a:prstGeom>
          <a:noFill/>
          <a:ln w="24130">
            <a:solidFill>
              <a:srgbClr val="786BB1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Use-case: Super Admin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Hospital-wide oversight, configuration, and staff controls.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44168"/>
            <a:ext cx="10789920" cy="4937760"/>
          </a:xfrm>
          <a:prstGeom prst="roundRect">
            <a:avLst>
              <a:gd name="adj" fmla="val 2963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572768"/>
            <a:ext cx="57607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09928" y="2788920"/>
            <a:ext cx="329184" cy="32918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3118104"/>
            <a:ext cx="0" cy="475488"/>
          </a:xfrm>
          <a:prstGeom prst="line">
            <a:avLst/>
          </a:prstGeom>
          <a:noFill/>
          <a:ln w="34290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563624" y="3310128"/>
            <a:ext cx="621792" cy="0"/>
          </a:xfrm>
          <a:prstGeom prst="line">
            <a:avLst/>
          </a:prstGeom>
          <a:noFill/>
          <a:ln w="34290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874520" y="3593592"/>
            <a:ext cx="274320" cy="310896"/>
          </a:xfrm>
          <a:prstGeom prst="line">
            <a:avLst/>
          </a:prstGeom>
          <a:noFill/>
          <a:ln w="34290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133856" y="4032504"/>
            <a:ext cx="1481328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 Admin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36008" y="1929384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8F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975104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/ logout and manage account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4636008" y="2487168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8F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532888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doctor and receptionist accounts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4636008" y="3044952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8F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090672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patient and appointment records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 flipV="1">
            <a:off x="2404872" y="3273552"/>
            <a:ext cx="2231133" cy="64008"/>
          </a:xfrm>
          <a:prstGeom prst="line">
            <a:avLst/>
          </a:prstGeom>
          <a:noFill/>
          <a:ln w="9144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4636008" y="3602736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8F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3648456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bills, payments and receipts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2404872" y="3337560"/>
            <a:ext cx="2231136" cy="475488"/>
          </a:xfrm>
          <a:prstGeom prst="line">
            <a:avLst/>
          </a:prstGeom>
          <a:noFill/>
          <a:ln w="9144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636008" y="4160520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8F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4206240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dashboard analytics and reports</a:t>
            </a:r>
            <a:endParaRPr lang="en-US" sz="1270" dirty="0"/>
          </a:p>
        </p:txBody>
      </p:sp>
      <p:sp>
        <p:nvSpPr>
          <p:cNvPr id="30" name="Shape 28"/>
          <p:cNvSpPr/>
          <p:nvPr/>
        </p:nvSpPr>
        <p:spPr>
          <a:xfrm>
            <a:off x="2404872" y="3337560"/>
            <a:ext cx="2231136" cy="1033272"/>
          </a:xfrm>
          <a:prstGeom prst="line">
            <a:avLst/>
          </a:prstGeom>
          <a:noFill/>
          <a:ln w="9144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4636008" y="4718304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8F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4764024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 email OTP security policy</a:t>
            </a:r>
            <a:endParaRPr lang="en-US" sz="1270" dirty="0"/>
          </a:p>
        </p:txBody>
      </p:sp>
      <p:sp>
        <p:nvSpPr>
          <p:cNvPr id="33" name="Shape 31"/>
          <p:cNvSpPr/>
          <p:nvPr/>
        </p:nvSpPr>
        <p:spPr>
          <a:xfrm>
            <a:off x="2404872" y="3337560"/>
            <a:ext cx="2231136" cy="1591056"/>
          </a:xfrm>
          <a:prstGeom prst="line">
            <a:avLst/>
          </a:prstGeom>
          <a:noFill/>
          <a:ln w="9144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4636008" y="5276088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8F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5321808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hospital information &amp; notifications</a:t>
            </a:r>
            <a:endParaRPr lang="en-US" sz="1270" dirty="0"/>
          </a:p>
        </p:txBody>
      </p:sp>
      <p:sp>
        <p:nvSpPr>
          <p:cNvPr id="36" name="Shape 34"/>
          <p:cNvSpPr/>
          <p:nvPr/>
        </p:nvSpPr>
        <p:spPr>
          <a:xfrm>
            <a:off x="2404872" y="3337560"/>
            <a:ext cx="2231136" cy="2148840"/>
          </a:xfrm>
          <a:prstGeom prst="line">
            <a:avLst/>
          </a:prstGeom>
          <a:noFill/>
          <a:ln w="9144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969264" y="5943600"/>
            <a:ext cx="96926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60" i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notation: actor = user role, ellipse = allowed system function, line = association</a:t>
            </a:r>
            <a:endParaRPr lang="en-US" sz="1060" dirty="0"/>
          </a:p>
        </p:txBody>
      </p:sp>
      <p:sp>
        <p:nvSpPr>
          <p:cNvPr id="65" name="Shape 22">
            <a:extLst>
              <a:ext uri="{FF2B5EF4-FFF2-40B4-BE49-F238E27FC236}">
                <a16:creationId xmlns:a16="http://schemas.microsoft.com/office/drawing/2014/main" id="{2BA1CFA5-6A08-A75E-4388-00804B356FF9}"/>
              </a:ext>
            </a:extLst>
          </p:cNvPr>
          <p:cNvSpPr/>
          <p:nvPr/>
        </p:nvSpPr>
        <p:spPr>
          <a:xfrm flipV="1">
            <a:off x="2404872" y="2715768"/>
            <a:ext cx="2231136" cy="621792"/>
          </a:xfrm>
          <a:prstGeom prst="line">
            <a:avLst/>
          </a:prstGeom>
          <a:noFill/>
          <a:ln w="9144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67" name="Shape 22">
            <a:extLst>
              <a:ext uri="{FF2B5EF4-FFF2-40B4-BE49-F238E27FC236}">
                <a16:creationId xmlns:a16="http://schemas.microsoft.com/office/drawing/2014/main" id="{D2DF049F-B76F-5B05-FB63-E1233BA0E049}"/>
              </a:ext>
            </a:extLst>
          </p:cNvPr>
          <p:cNvSpPr/>
          <p:nvPr/>
        </p:nvSpPr>
        <p:spPr>
          <a:xfrm flipV="1">
            <a:off x="2404872" y="2157984"/>
            <a:ext cx="2231136" cy="1179576"/>
          </a:xfrm>
          <a:prstGeom prst="line">
            <a:avLst/>
          </a:prstGeom>
          <a:noFill/>
          <a:ln w="9144">
            <a:solidFill>
              <a:srgbClr val="008F89"/>
            </a:solidFill>
            <a:prstDash val="solid"/>
            <a:headEnd type="none"/>
            <a:tailEnd type="none"/>
          </a:ln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CD0470C1-CFF9-1F50-3A08-D07AB3CA1A67}"/>
              </a:ext>
            </a:extLst>
          </p:cNvPr>
          <p:cNvSpPr/>
          <p:nvPr/>
        </p:nvSpPr>
        <p:spPr>
          <a:xfrm flipH="1">
            <a:off x="1600200" y="3590544"/>
            <a:ext cx="274320" cy="310896"/>
          </a:xfrm>
          <a:prstGeom prst="line">
            <a:avLst/>
          </a:prstGeom>
          <a:noFill/>
          <a:ln w="34290">
            <a:solidFill>
              <a:srgbClr val="008F89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Use-case: Doctor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tasks related to assigned patients and consultations.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" y="1344168"/>
            <a:ext cx="10789920" cy="4937760"/>
          </a:xfrm>
          <a:prstGeom prst="roundRect">
            <a:avLst>
              <a:gd name="adj" fmla="val 2963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572768"/>
            <a:ext cx="57607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09928" y="2788920"/>
            <a:ext cx="329184" cy="329184"/>
          </a:xfrm>
          <a:prstGeom prst="ellipse">
            <a:avLst/>
          </a:prstGeom>
          <a:solidFill>
            <a:srgbClr val="3D77A4"/>
          </a:solidFill>
          <a:ln w="12700">
            <a:solidFill>
              <a:srgbClr val="3D77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3118104"/>
            <a:ext cx="0" cy="475488"/>
          </a:xfrm>
          <a:prstGeom prst="line">
            <a:avLst/>
          </a:prstGeom>
          <a:noFill/>
          <a:ln w="34290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563624" y="3310128"/>
            <a:ext cx="621792" cy="0"/>
          </a:xfrm>
          <a:prstGeom prst="line">
            <a:avLst/>
          </a:prstGeom>
          <a:noFill/>
          <a:ln w="34290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874520" y="3593592"/>
            <a:ext cx="274320" cy="310896"/>
          </a:xfrm>
          <a:prstGeom prst="line">
            <a:avLst/>
          </a:prstGeom>
          <a:noFill/>
          <a:ln w="34290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133856" y="4032504"/>
            <a:ext cx="1481328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36008" y="1929384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3D77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975104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/ logout and manage profile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4636008" y="2487168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3D77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532888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doctor dashboard and appointments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4636008" y="3044952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3D77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090672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assigned appointment status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 flipV="1">
            <a:off x="2404872" y="3273552"/>
            <a:ext cx="2231136" cy="64008"/>
          </a:xfrm>
          <a:prstGeom prst="line">
            <a:avLst/>
          </a:prstGeom>
          <a:noFill/>
          <a:ln w="9144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4636008" y="3602736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3D77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3648456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authorized patient medical records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2404872" y="3337560"/>
            <a:ext cx="2231136" cy="475488"/>
          </a:xfrm>
          <a:prstGeom prst="line">
            <a:avLst/>
          </a:prstGeom>
          <a:noFill/>
          <a:ln w="9144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636008" y="4160520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3D77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4206240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diagnosis and consultation notes</a:t>
            </a:r>
            <a:endParaRPr lang="en-US" sz="1270" dirty="0"/>
          </a:p>
        </p:txBody>
      </p:sp>
      <p:sp>
        <p:nvSpPr>
          <p:cNvPr id="30" name="Shape 28"/>
          <p:cNvSpPr/>
          <p:nvPr/>
        </p:nvSpPr>
        <p:spPr>
          <a:xfrm>
            <a:off x="2404872" y="3337560"/>
            <a:ext cx="2231136" cy="1033272"/>
          </a:xfrm>
          <a:prstGeom prst="line">
            <a:avLst/>
          </a:prstGeom>
          <a:noFill/>
          <a:ln w="9144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4636008" y="4718304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3D77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4764024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and update prescriptions</a:t>
            </a:r>
            <a:endParaRPr lang="en-US" sz="1270" dirty="0"/>
          </a:p>
        </p:txBody>
      </p:sp>
      <p:sp>
        <p:nvSpPr>
          <p:cNvPr id="33" name="Shape 31"/>
          <p:cNvSpPr/>
          <p:nvPr/>
        </p:nvSpPr>
        <p:spPr>
          <a:xfrm>
            <a:off x="2404872" y="3337560"/>
            <a:ext cx="2231136" cy="1591056"/>
          </a:xfrm>
          <a:prstGeom prst="line">
            <a:avLst/>
          </a:prstGeom>
          <a:noFill/>
          <a:ln w="9144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4636008" y="5276088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3D77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5321808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availability and notifications</a:t>
            </a:r>
            <a:endParaRPr lang="en-US" sz="1270" dirty="0"/>
          </a:p>
        </p:txBody>
      </p:sp>
      <p:sp>
        <p:nvSpPr>
          <p:cNvPr id="36" name="Shape 34"/>
          <p:cNvSpPr/>
          <p:nvPr/>
        </p:nvSpPr>
        <p:spPr>
          <a:xfrm>
            <a:off x="2404872" y="3337560"/>
            <a:ext cx="2231136" cy="2148840"/>
          </a:xfrm>
          <a:prstGeom prst="line">
            <a:avLst/>
          </a:prstGeom>
          <a:noFill/>
          <a:ln w="9144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969264" y="5943600"/>
            <a:ext cx="96926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60" i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notation: actor = user role, ellipse = allowed system function, line = association</a:t>
            </a:r>
            <a:endParaRPr lang="en-US" sz="1060" dirty="0"/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0E642D64-0B82-3C74-1D22-AD5B15DBB5BE}"/>
              </a:ext>
            </a:extLst>
          </p:cNvPr>
          <p:cNvSpPr/>
          <p:nvPr/>
        </p:nvSpPr>
        <p:spPr>
          <a:xfrm flipV="1">
            <a:off x="2404872" y="2724912"/>
            <a:ext cx="2231136" cy="612648"/>
          </a:xfrm>
          <a:prstGeom prst="line">
            <a:avLst/>
          </a:prstGeom>
          <a:noFill/>
          <a:ln w="9144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30AD181F-0BA6-E005-26F6-DAEAE4BE7C6A}"/>
              </a:ext>
            </a:extLst>
          </p:cNvPr>
          <p:cNvSpPr/>
          <p:nvPr/>
        </p:nvSpPr>
        <p:spPr>
          <a:xfrm flipV="1">
            <a:off x="2404872" y="2157984"/>
            <a:ext cx="2231136" cy="1179576"/>
          </a:xfrm>
          <a:prstGeom prst="line">
            <a:avLst/>
          </a:prstGeom>
          <a:noFill/>
          <a:ln w="9144">
            <a:solidFill>
              <a:srgbClr val="3D77A4"/>
            </a:solidFill>
            <a:prstDash val="solid"/>
            <a:headEnd type="none"/>
            <a:tailEnd type="none"/>
          </a:ln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B70334E0-9C8C-C8FD-F636-37ADDE0B3609}"/>
              </a:ext>
            </a:extLst>
          </p:cNvPr>
          <p:cNvSpPr/>
          <p:nvPr/>
        </p:nvSpPr>
        <p:spPr>
          <a:xfrm flipH="1">
            <a:off x="1600199" y="3593592"/>
            <a:ext cx="274320" cy="310896"/>
          </a:xfrm>
          <a:prstGeom prst="line">
            <a:avLst/>
          </a:prstGeom>
          <a:noFill/>
          <a:ln w="34290">
            <a:solidFill>
              <a:srgbClr val="3D77A4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Use-case: Receptionist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Front-desk scheduling, patient handling and bill collection.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" y="1344168"/>
            <a:ext cx="10789920" cy="4937760"/>
          </a:xfrm>
          <a:prstGeom prst="roundRect">
            <a:avLst>
              <a:gd name="adj" fmla="val 2963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572768"/>
            <a:ext cx="57607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09928" y="2788920"/>
            <a:ext cx="329184" cy="329184"/>
          </a:xfrm>
          <a:prstGeom prst="ellipse">
            <a:avLst/>
          </a:prstGeom>
          <a:solidFill>
            <a:srgbClr val="D08E47"/>
          </a:solidFill>
          <a:ln w="12700">
            <a:solidFill>
              <a:srgbClr val="D08E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3118104"/>
            <a:ext cx="0" cy="475488"/>
          </a:xfrm>
          <a:prstGeom prst="line">
            <a:avLst/>
          </a:prstGeom>
          <a:noFill/>
          <a:ln w="34290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563624" y="3310128"/>
            <a:ext cx="621792" cy="0"/>
          </a:xfrm>
          <a:prstGeom prst="line">
            <a:avLst/>
          </a:prstGeom>
          <a:noFill/>
          <a:ln w="34290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874520" y="3593592"/>
            <a:ext cx="274320" cy="310896"/>
          </a:xfrm>
          <a:prstGeom prst="line">
            <a:avLst/>
          </a:prstGeom>
          <a:noFill/>
          <a:ln w="34290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133856" y="4032504"/>
            <a:ext cx="1481328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Receptionist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36008" y="1929384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08E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975104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/ logout and view dashboard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 flipV="1">
            <a:off x="2404872" y="3255264"/>
            <a:ext cx="2231135" cy="82296"/>
          </a:xfrm>
          <a:prstGeom prst="line">
            <a:avLst/>
          </a:prstGeom>
          <a:noFill/>
          <a:ln w="9144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636008" y="2487168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08E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532888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and update patient details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4636008" y="3044952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08E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090672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doctor availability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4636008" y="3602736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08E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3648456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Book, update and cancel appointments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2404872" y="3337560"/>
            <a:ext cx="2231136" cy="475488"/>
          </a:xfrm>
          <a:prstGeom prst="line">
            <a:avLst/>
          </a:prstGeom>
          <a:noFill/>
          <a:ln w="9144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636008" y="4160520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08E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4206240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missed confirmed visits as no-show</a:t>
            </a:r>
            <a:endParaRPr lang="en-US" sz="1270" dirty="0"/>
          </a:p>
        </p:txBody>
      </p:sp>
      <p:sp>
        <p:nvSpPr>
          <p:cNvPr id="30" name="Shape 28"/>
          <p:cNvSpPr/>
          <p:nvPr/>
        </p:nvSpPr>
        <p:spPr>
          <a:xfrm>
            <a:off x="2404872" y="3337560"/>
            <a:ext cx="2231136" cy="1033272"/>
          </a:xfrm>
          <a:prstGeom prst="line">
            <a:avLst/>
          </a:prstGeom>
          <a:noFill/>
          <a:ln w="9144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4636008" y="4718304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08E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4764024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bills and record payments</a:t>
            </a:r>
            <a:endParaRPr lang="en-US" sz="1270" dirty="0"/>
          </a:p>
        </p:txBody>
      </p:sp>
      <p:sp>
        <p:nvSpPr>
          <p:cNvPr id="33" name="Shape 31"/>
          <p:cNvSpPr/>
          <p:nvPr/>
        </p:nvSpPr>
        <p:spPr>
          <a:xfrm>
            <a:off x="2404872" y="3337560"/>
            <a:ext cx="2231136" cy="1591056"/>
          </a:xfrm>
          <a:prstGeom prst="line">
            <a:avLst/>
          </a:prstGeom>
          <a:noFill/>
          <a:ln w="9144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4636008" y="5276088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08E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5321808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receipts and view notifications</a:t>
            </a:r>
            <a:endParaRPr lang="en-US" sz="1270" dirty="0"/>
          </a:p>
        </p:txBody>
      </p:sp>
      <p:sp>
        <p:nvSpPr>
          <p:cNvPr id="36" name="Shape 34"/>
          <p:cNvSpPr/>
          <p:nvPr/>
        </p:nvSpPr>
        <p:spPr>
          <a:xfrm>
            <a:off x="2404872" y="3337560"/>
            <a:ext cx="2231136" cy="2148840"/>
          </a:xfrm>
          <a:prstGeom prst="line">
            <a:avLst/>
          </a:prstGeom>
          <a:noFill/>
          <a:ln w="9144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969264" y="5943600"/>
            <a:ext cx="96926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60" i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notation: actor = user role, ellipse = allowed system function, line = association</a:t>
            </a:r>
            <a:endParaRPr lang="en-US" sz="1060" dirty="0"/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AE1D3E8E-1E87-03AF-84F3-1DD3495E6FA9}"/>
              </a:ext>
            </a:extLst>
          </p:cNvPr>
          <p:cNvSpPr/>
          <p:nvPr/>
        </p:nvSpPr>
        <p:spPr>
          <a:xfrm flipV="1">
            <a:off x="2404872" y="2167128"/>
            <a:ext cx="2249425" cy="1170432"/>
          </a:xfrm>
          <a:prstGeom prst="line">
            <a:avLst/>
          </a:prstGeom>
          <a:noFill/>
          <a:ln w="9144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E2636B4F-0C9E-B6B7-FBA8-14EC913346A9}"/>
              </a:ext>
            </a:extLst>
          </p:cNvPr>
          <p:cNvSpPr/>
          <p:nvPr/>
        </p:nvSpPr>
        <p:spPr>
          <a:xfrm flipV="1">
            <a:off x="2423161" y="2715768"/>
            <a:ext cx="2212847" cy="621792"/>
          </a:xfrm>
          <a:prstGeom prst="line">
            <a:avLst/>
          </a:prstGeom>
          <a:noFill/>
          <a:ln w="9144">
            <a:solidFill>
              <a:srgbClr val="D08E47"/>
            </a:solidFill>
            <a:prstDash val="solid"/>
            <a:headEnd type="none"/>
            <a:tailEnd type="none"/>
          </a:ln>
        </p:spPr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FF3A3F3B-E41A-AE4B-AAE5-924572E81B1C}"/>
              </a:ext>
            </a:extLst>
          </p:cNvPr>
          <p:cNvSpPr/>
          <p:nvPr/>
        </p:nvSpPr>
        <p:spPr>
          <a:xfrm flipH="1">
            <a:off x="1603629" y="3584449"/>
            <a:ext cx="274320" cy="310896"/>
          </a:xfrm>
          <a:prstGeom prst="line">
            <a:avLst/>
          </a:prstGeom>
          <a:noFill/>
          <a:ln w="34290">
            <a:solidFill>
              <a:srgbClr val="D08E47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Use-case: Patient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Self-service access to personal appointment and medical information.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" y="1344168"/>
            <a:ext cx="10789920" cy="4937760"/>
          </a:xfrm>
          <a:prstGeom prst="roundRect">
            <a:avLst>
              <a:gd name="adj" fmla="val 2963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572768"/>
            <a:ext cx="57607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09928" y="2788920"/>
            <a:ext cx="329184" cy="329184"/>
          </a:xfrm>
          <a:prstGeom prst="ellipse">
            <a:avLst/>
          </a:prstGeom>
          <a:solidFill>
            <a:srgbClr val="786BB1"/>
          </a:solidFill>
          <a:ln w="12700">
            <a:solidFill>
              <a:srgbClr val="786B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3118104"/>
            <a:ext cx="0" cy="475488"/>
          </a:xfrm>
          <a:prstGeom prst="line">
            <a:avLst/>
          </a:prstGeom>
          <a:noFill/>
          <a:ln w="34290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563624" y="3310128"/>
            <a:ext cx="621792" cy="0"/>
          </a:xfrm>
          <a:prstGeom prst="line">
            <a:avLst/>
          </a:prstGeom>
          <a:noFill/>
          <a:ln w="34290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874520" y="3593592"/>
            <a:ext cx="274320" cy="310896"/>
          </a:xfrm>
          <a:prstGeom prst="line">
            <a:avLst/>
          </a:prstGeom>
          <a:noFill/>
          <a:ln w="34290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133856" y="4032504"/>
            <a:ext cx="1481328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36008" y="1929384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86B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975104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/ login / logout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 flipV="1">
            <a:off x="2404872" y="3273552"/>
            <a:ext cx="2231136" cy="64008"/>
          </a:xfrm>
          <a:prstGeom prst="line">
            <a:avLst/>
          </a:prstGeom>
          <a:noFill/>
          <a:ln w="9144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636008" y="2487168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86B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532888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own </a:t>
            </a: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and profile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4636008" y="3044952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86B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090672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doctors and book appointment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4636008" y="3602736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86B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3648456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appointment history and status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2404872" y="3337560"/>
            <a:ext cx="2231136" cy="475488"/>
          </a:xfrm>
          <a:prstGeom prst="line">
            <a:avLst/>
          </a:prstGeom>
          <a:noFill/>
          <a:ln w="9144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636008" y="4160520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86B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4206240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 own appointment</a:t>
            </a:r>
            <a:endParaRPr lang="en-US" sz="1270" dirty="0"/>
          </a:p>
        </p:txBody>
      </p:sp>
      <p:sp>
        <p:nvSpPr>
          <p:cNvPr id="30" name="Shape 28"/>
          <p:cNvSpPr/>
          <p:nvPr/>
        </p:nvSpPr>
        <p:spPr>
          <a:xfrm>
            <a:off x="2404872" y="3337560"/>
            <a:ext cx="2231136" cy="1033272"/>
          </a:xfrm>
          <a:prstGeom prst="line">
            <a:avLst/>
          </a:prstGeom>
          <a:noFill/>
          <a:ln w="9144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4636008" y="4718304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86BB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4764024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own prescriptions and records</a:t>
            </a:r>
            <a:endParaRPr lang="en-US" sz="1270" dirty="0"/>
          </a:p>
        </p:txBody>
      </p:sp>
      <p:sp>
        <p:nvSpPr>
          <p:cNvPr id="33" name="Shape 31"/>
          <p:cNvSpPr/>
          <p:nvPr/>
        </p:nvSpPr>
        <p:spPr>
          <a:xfrm>
            <a:off x="2404872" y="3337560"/>
            <a:ext cx="2231136" cy="1591056"/>
          </a:xfrm>
          <a:prstGeom prst="line">
            <a:avLst/>
          </a:prstGeom>
          <a:noFill/>
          <a:ln w="9144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4636008" y="5276088"/>
            <a:ext cx="5349240" cy="42976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86BB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5321808"/>
            <a:ext cx="5148072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own bills, receipts, notifications</a:t>
            </a:r>
            <a:endParaRPr lang="en-US" sz="1270" dirty="0"/>
          </a:p>
        </p:txBody>
      </p:sp>
      <p:sp>
        <p:nvSpPr>
          <p:cNvPr id="36" name="Shape 34"/>
          <p:cNvSpPr/>
          <p:nvPr/>
        </p:nvSpPr>
        <p:spPr>
          <a:xfrm>
            <a:off x="2404872" y="3337560"/>
            <a:ext cx="2231136" cy="2148840"/>
          </a:xfrm>
          <a:prstGeom prst="line">
            <a:avLst/>
          </a:prstGeom>
          <a:noFill/>
          <a:ln w="9144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969264" y="5943600"/>
            <a:ext cx="96926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60" i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notation: actor = user role, ellipse = allowed system function, line = association</a:t>
            </a:r>
            <a:endParaRPr lang="en-US" sz="1060" dirty="0"/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5250C3B9-2552-1AE6-EA16-17696DA94F9A}"/>
              </a:ext>
            </a:extLst>
          </p:cNvPr>
          <p:cNvSpPr/>
          <p:nvPr/>
        </p:nvSpPr>
        <p:spPr>
          <a:xfrm flipV="1">
            <a:off x="2404872" y="2715768"/>
            <a:ext cx="2231131" cy="621792"/>
          </a:xfrm>
          <a:prstGeom prst="line">
            <a:avLst/>
          </a:prstGeom>
          <a:noFill/>
          <a:ln w="9144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BE7CD382-F9DD-B45F-B669-1A5FC5E2EBB7}"/>
              </a:ext>
            </a:extLst>
          </p:cNvPr>
          <p:cNvSpPr/>
          <p:nvPr/>
        </p:nvSpPr>
        <p:spPr>
          <a:xfrm flipV="1">
            <a:off x="2404868" y="2157984"/>
            <a:ext cx="2231135" cy="1179575"/>
          </a:xfrm>
          <a:prstGeom prst="line">
            <a:avLst/>
          </a:prstGeom>
          <a:noFill/>
          <a:ln w="9144">
            <a:solidFill>
              <a:srgbClr val="786BB1"/>
            </a:solidFill>
            <a:prstDash val="solid"/>
            <a:headEnd type="none"/>
            <a:tailEnd type="none"/>
          </a:ln>
        </p:spPr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E7FD7C60-CE3A-3D50-3E51-1C9EB0902C2E}"/>
              </a:ext>
            </a:extLst>
          </p:cNvPr>
          <p:cNvSpPr/>
          <p:nvPr/>
        </p:nvSpPr>
        <p:spPr>
          <a:xfrm flipH="1">
            <a:off x="1600200" y="3590544"/>
            <a:ext cx="274320" cy="310896"/>
          </a:xfrm>
          <a:prstGeom prst="line">
            <a:avLst/>
          </a:prstGeom>
          <a:noFill/>
          <a:ln w="34290">
            <a:solidFill>
              <a:srgbClr val="786BB1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model overview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entities connected through the hospital database.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2221992"/>
            <a:ext cx="0" cy="548640"/>
          </a:xfrm>
          <a:prstGeom prst="line">
            <a:avLst/>
          </a:prstGeom>
          <a:noFill/>
          <a:ln w="25400">
            <a:solidFill>
              <a:srgbClr val="DCE7ED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685032" y="3364992"/>
            <a:ext cx="795528" cy="0"/>
          </a:xfrm>
          <a:prstGeom prst="line">
            <a:avLst/>
          </a:prstGeom>
          <a:noFill/>
          <a:ln w="25400">
            <a:solidFill>
              <a:srgbClr val="DCE7ED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498080" y="3364992"/>
            <a:ext cx="777240" cy="0"/>
          </a:xfrm>
          <a:prstGeom prst="line">
            <a:avLst/>
          </a:prstGeom>
          <a:noFill/>
          <a:ln w="25400">
            <a:solidFill>
              <a:srgbClr val="DCE7ED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148840" y="3675888"/>
            <a:ext cx="0" cy="1024128"/>
          </a:xfrm>
          <a:prstGeom prst="line">
            <a:avLst/>
          </a:prstGeom>
          <a:noFill/>
          <a:ln w="25400">
            <a:solidFill>
              <a:srgbClr val="DCE7ED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989320" y="3675888"/>
            <a:ext cx="0" cy="1024128"/>
          </a:xfrm>
          <a:prstGeom prst="line">
            <a:avLst/>
          </a:prstGeom>
          <a:noFill/>
          <a:ln w="25400">
            <a:solidFill>
              <a:srgbClr val="DCE7ED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747504" y="3675888"/>
            <a:ext cx="0" cy="1024128"/>
          </a:xfrm>
          <a:prstGeom prst="line">
            <a:avLst/>
          </a:prstGeom>
          <a:noFill/>
          <a:ln w="25400">
            <a:solidFill>
              <a:srgbClr val="DCE7ED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480560" y="1426464"/>
            <a:ext cx="3017520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008F8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1426464"/>
            <a:ext cx="82296" cy="877824"/>
          </a:xfrm>
          <a:prstGeom prst="rect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1536192"/>
            <a:ext cx="2606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90872" y="1883664"/>
            <a:ext cx="2606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+ role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704088" y="2770632"/>
            <a:ext cx="2971800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3D77A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2770632"/>
            <a:ext cx="82296" cy="877824"/>
          </a:xfrm>
          <a:prstGeom prst="rect">
            <a:avLst/>
          </a:prstGeom>
          <a:solidFill>
            <a:srgbClr val="3D77A4"/>
          </a:solidFill>
          <a:ln w="12700">
            <a:solidFill>
              <a:srgbClr val="3D77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14400" y="3227832"/>
            <a:ext cx="2560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+ schedule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4480560" y="2770632"/>
            <a:ext cx="3017520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008F8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2770632"/>
            <a:ext cx="82296" cy="877824"/>
          </a:xfrm>
          <a:prstGeom prst="rect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2880360"/>
            <a:ext cx="2606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690872" y="3227832"/>
            <a:ext cx="2606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Doctor, patient, date, status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8275320" y="2770632"/>
            <a:ext cx="2971800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786BB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2770632"/>
            <a:ext cx="82296" cy="877824"/>
          </a:xfrm>
          <a:prstGeom prst="rect">
            <a:avLst/>
          </a:prstGeom>
          <a:solidFill>
            <a:srgbClr val="786BB1"/>
          </a:solidFill>
          <a:ln w="12700">
            <a:solidFill>
              <a:srgbClr val="786B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485632" y="3227832"/>
            <a:ext cx="2560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+ visit history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704088" y="4700016"/>
            <a:ext cx="2971800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3D77A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" y="4700016"/>
            <a:ext cx="82296" cy="877824"/>
          </a:xfrm>
          <a:prstGeom prst="rect">
            <a:avLst/>
          </a:prstGeom>
          <a:solidFill>
            <a:srgbClr val="3D77A4"/>
          </a:solidFill>
          <a:ln w="12700">
            <a:solidFill>
              <a:srgbClr val="3D77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809744"/>
            <a:ext cx="2560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Prescription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14400" y="5157216"/>
            <a:ext cx="2560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 + treatment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4480560" y="4700016"/>
            <a:ext cx="3017520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008F8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80560" y="4700016"/>
            <a:ext cx="82296" cy="877824"/>
          </a:xfrm>
          <a:prstGeom prst="rect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0872" y="4809744"/>
            <a:ext cx="2606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Record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4690872" y="5157216"/>
            <a:ext cx="2606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Consultation notes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8275320" y="4700016"/>
            <a:ext cx="2971800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08E4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4700016"/>
            <a:ext cx="82296" cy="877824"/>
          </a:xfrm>
          <a:prstGeom prst="rect">
            <a:avLst/>
          </a:prstGeom>
          <a:solidFill>
            <a:srgbClr val="D08E47"/>
          </a:solidFill>
          <a:ln w="12700">
            <a:solidFill>
              <a:srgbClr val="D08E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85632" y="4809744"/>
            <a:ext cx="2560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8485632" y="5157216"/>
            <a:ext cx="2560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Charges + payment status</a:t>
            </a:r>
            <a:endParaRPr lang="en-US" sz="1160" dirty="0"/>
          </a:p>
        </p:txBody>
      </p:sp>
      <p:sp>
        <p:nvSpPr>
          <p:cNvPr id="42" name="Text 40"/>
          <p:cNvSpPr/>
          <p:nvPr/>
        </p:nvSpPr>
        <p:spPr>
          <a:xfrm>
            <a:off x="722376" y="5998464"/>
            <a:ext cx="10698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60" i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configuration entity: Hospital Settings (email OTP policy).</a:t>
            </a:r>
            <a:endParaRPr lang="en-US" sz="11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selected for a maintainable web-based application.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330952" cy="1874520"/>
          </a:xfrm>
          <a:prstGeom prst="roundRect">
            <a:avLst>
              <a:gd name="adj" fmla="val 7805"/>
            </a:avLst>
          </a:prstGeom>
          <a:solidFill>
            <a:srgbClr val="DAF4EF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45920"/>
            <a:ext cx="1325880" cy="320040"/>
          </a:xfrm>
          <a:prstGeom prst="roundRect">
            <a:avLst>
              <a:gd name="adj" fmla="val 45714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664208"/>
            <a:ext cx="1252728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2139696"/>
            <a:ext cx="489204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+ Django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624328"/>
            <a:ext cx="476402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rules, authentication and server-side logic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6446520" y="1417320"/>
            <a:ext cx="5330952" cy="1874520"/>
          </a:xfrm>
          <a:prstGeom prst="roundRect">
            <a:avLst>
              <a:gd name="adj" fmla="val 7805"/>
            </a:avLst>
          </a:prstGeom>
          <a:solidFill>
            <a:srgbClr val="EAF4FA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645920"/>
            <a:ext cx="1325880" cy="320040"/>
          </a:xfrm>
          <a:prstGeom prst="roundRect">
            <a:avLst>
              <a:gd name="adj" fmla="val 45714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1664208"/>
            <a:ext cx="1252728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77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75120" y="2139696"/>
            <a:ext cx="489204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/ CSS / JS </a:t>
            </a:r>
            <a:r>
              <a:rPr lang="en-US" sz="1900" b="1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Bootstrap + CDN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675120" y="2624328"/>
            <a:ext cx="476402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interfaces for all four roles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731520" y="3538728"/>
            <a:ext cx="5330952" cy="1874520"/>
          </a:xfrm>
          <a:prstGeom prst="roundRect">
            <a:avLst>
              <a:gd name="adj" fmla="val 7805"/>
            </a:avLst>
          </a:prstGeom>
          <a:solidFill>
            <a:srgbClr val="F0EEFB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3767328"/>
            <a:ext cx="1325880" cy="320040"/>
          </a:xfrm>
          <a:prstGeom prst="roundRect">
            <a:avLst>
              <a:gd name="adj" fmla="val 45714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3785616"/>
            <a:ext cx="1252728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86B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0120" y="4261104"/>
            <a:ext cx="489204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60120" y="4745736"/>
            <a:ext cx="476402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storage for clinical and administrative data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6446520" y="3538728"/>
            <a:ext cx="5330952" cy="1874520"/>
          </a:xfrm>
          <a:prstGeom prst="roundRect">
            <a:avLst>
              <a:gd name="adj" fmla="val 7805"/>
            </a:avLst>
          </a:prstGeom>
          <a:solidFill>
            <a:srgbClr val="FFF2E4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3767328"/>
            <a:ext cx="1325880" cy="320040"/>
          </a:xfrm>
          <a:prstGeom prst="roundRect">
            <a:avLst>
              <a:gd name="adj" fmla="val 45714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3785616"/>
            <a:ext cx="1252728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8E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75120" y="4261104"/>
            <a:ext cx="489204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Studio Code + Git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675120" y="4745736"/>
            <a:ext cx="476402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Coding, testing, and project version control</a:t>
            </a:r>
            <a:endParaRPr lang="en-US" sz="12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 and current limitations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scope with room for future expansion.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1472184"/>
            <a:ext cx="5257800" cy="4498848"/>
          </a:xfrm>
          <a:prstGeom prst="roundRect">
            <a:avLst>
              <a:gd name="adj" fmla="val 3252"/>
            </a:avLst>
          </a:prstGeom>
          <a:solidFill>
            <a:srgbClr val="DAF4EF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472184"/>
            <a:ext cx="5257800" cy="4498848"/>
          </a:xfrm>
          <a:prstGeom prst="roundRect">
            <a:avLst>
              <a:gd name="adj" fmla="val 3252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46504"/>
            <a:ext cx="3657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8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BENEFITS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37960" y="1746504"/>
            <a:ext cx="3657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08E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LIMITATIONS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24128" y="2473452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2249424"/>
            <a:ext cx="4306824" cy="557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front-desk workflows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24128" y="3104388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2880360"/>
            <a:ext cx="4306824" cy="557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repeated data entry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24128" y="3735324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3511296"/>
            <a:ext cx="4306824" cy="557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record access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24128" y="4366260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3584" y="4142232"/>
            <a:ext cx="4306824" cy="557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responsibilities per role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24128" y="4997196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584" y="4773168"/>
            <a:ext cx="4306824" cy="557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reporting and tracking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37960" y="2512314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7416" y="2249424"/>
            <a:ext cx="4315968" cy="557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server / network access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37960" y="3143250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7416" y="2880360"/>
            <a:ext cx="4315968" cy="557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 and staff training needed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37960" y="3774186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3511296"/>
            <a:ext cx="4315968" cy="557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data needs strong protection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37960" y="4405122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57416" y="4142232"/>
            <a:ext cx="4315968" cy="557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online payment gateway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537960" y="5036058"/>
            <a:ext cx="77724" cy="77724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57416" y="4773168"/>
            <a:ext cx="4315968" cy="557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lab / pharmacy module in scope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28816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HMS  /  PROJECT GROUP 63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47120" y="65471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A"/>
                </a:solidFill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3657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next steps beyond the current project scope.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545336"/>
            <a:ext cx="3538728" cy="1947672"/>
          </a:xfrm>
          <a:prstGeom prst="roundRect">
            <a:avLst>
              <a:gd name="adj" fmla="val 7512"/>
            </a:avLst>
          </a:prstGeom>
          <a:solidFill>
            <a:srgbClr val="DAF4EF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1764792"/>
            <a:ext cx="365760" cy="365760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856232"/>
            <a:ext cx="228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2304288"/>
            <a:ext cx="314553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20" b="1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Time Online </a:t>
            </a:r>
            <a:r>
              <a:rPr lang="en-US" sz="162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877824" y="2724912"/>
            <a:ext cx="314553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7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patients settle eligible bills digitally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4517136" y="1545336"/>
            <a:ext cx="3538728" cy="1947672"/>
          </a:xfrm>
          <a:prstGeom prst="roundRect">
            <a:avLst>
              <a:gd name="adj" fmla="val 7512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18304" y="1764792"/>
            <a:ext cx="365760" cy="365760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856232"/>
            <a:ext cx="228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304288"/>
            <a:ext cx="314553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20" b="1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SMS alerts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4709160" y="2724912"/>
            <a:ext cx="314553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7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 reminders and notifications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8348472" y="1545336"/>
            <a:ext cx="3538728" cy="1947672"/>
          </a:xfrm>
          <a:prstGeom prst="roundRect">
            <a:avLst>
              <a:gd name="adj" fmla="val 7512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1764792"/>
            <a:ext cx="365760" cy="365760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13648" y="1856232"/>
            <a:ext cx="228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40496" y="2304288"/>
            <a:ext cx="314553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Pharmacy &amp; laboratory</a:t>
            </a:r>
            <a:endParaRPr lang="en-US" sz="1620" dirty="0"/>
          </a:p>
        </p:txBody>
      </p:sp>
      <p:sp>
        <p:nvSpPr>
          <p:cNvPr id="22" name="Text 20"/>
          <p:cNvSpPr/>
          <p:nvPr/>
        </p:nvSpPr>
        <p:spPr>
          <a:xfrm>
            <a:off x="8540496" y="2724912"/>
            <a:ext cx="314553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7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Prescriptions, tests, and reports in one place</a:t>
            </a:r>
            <a:endParaRPr lang="en-US" sz="1270" dirty="0"/>
          </a:p>
        </p:txBody>
      </p:sp>
      <p:sp>
        <p:nvSpPr>
          <p:cNvPr id="23" name="Shape 21"/>
          <p:cNvSpPr/>
          <p:nvPr/>
        </p:nvSpPr>
        <p:spPr>
          <a:xfrm>
            <a:off x="685800" y="3758184"/>
            <a:ext cx="3538728" cy="1947672"/>
          </a:xfrm>
          <a:prstGeom prst="roundRect">
            <a:avLst>
              <a:gd name="adj" fmla="val 7512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" y="3977640"/>
            <a:ext cx="365760" cy="365760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4069080"/>
            <a:ext cx="228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7824" y="4517136"/>
            <a:ext cx="314553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application</a:t>
            </a:r>
            <a:endParaRPr lang="en-US" sz="1620" dirty="0"/>
          </a:p>
        </p:txBody>
      </p:sp>
      <p:sp>
        <p:nvSpPr>
          <p:cNvPr id="27" name="Text 25"/>
          <p:cNvSpPr/>
          <p:nvPr/>
        </p:nvSpPr>
        <p:spPr>
          <a:xfrm>
            <a:off x="877824" y="4937760"/>
            <a:ext cx="314553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7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Convenient access from phones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4517136" y="3758184"/>
            <a:ext cx="3538728" cy="1947672"/>
          </a:xfrm>
          <a:prstGeom prst="roundRect">
            <a:avLst>
              <a:gd name="adj" fmla="val 7512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8304" y="3977640"/>
            <a:ext cx="365760" cy="365760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4069080"/>
            <a:ext cx="228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4517136"/>
            <a:ext cx="314553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analytics</a:t>
            </a:r>
            <a:endParaRPr lang="en-US" sz="1620" dirty="0"/>
          </a:p>
        </p:txBody>
      </p:sp>
      <p:sp>
        <p:nvSpPr>
          <p:cNvPr id="32" name="Text 30"/>
          <p:cNvSpPr/>
          <p:nvPr/>
        </p:nvSpPr>
        <p:spPr>
          <a:xfrm>
            <a:off x="4709160" y="4937760"/>
            <a:ext cx="314553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7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Trends in appointments, workload and revenue</a:t>
            </a:r>
            <a:endParaRPr lang="en-US" sz="1270" dirty="0"/>
          </a:p>
        </p:txBody>
      </p:sp>
      <p:sp>
        <p:nvSpPr>
          <p:cNvPr id="33" name="Shape 31"/>
          <p:cNvSpPr/>
          <p:nvPr/>
        </p:nvSpPr>
        <p:spPr>
          <a:xfrm>
            <a:off x="8348472" y="3758184"/>
            <a:ext cx="3538728" cy="1947672"/>
          </a:xfrm>
          <a:prstGeom prst="roundRect">
            <a:avLst>
              <a:gd name="adj" fmla="val 7512"/>
            </a:avLst>
          </a:prstGeom>
          <a:solidFill>
            <a:srgbClr val="F6F9FC"/>
          </a:solidFill>
          <a:ln w="8890">
            <a:solidFill>
              <a:srgbClr val="DCE7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49640" y="3977640"/>
            <a:ext cx="365760" cy="365760"/>
          </a:xfrm>
          <a:prstGeom prst="ellipse">
            <a:avLst/>
          </a:prstGeom>
          <a:solidFill>
            <a:srgbClr val="008F89"/>
          </a:solidFill>
          <a:ln w="12700">
            <a:solidFill>
              <a:srgbClr val="008F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13648" y="4069080"/>
            <a:ext cx="228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40496" y="4517136"/>
            <a:ext cx="314553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11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Extended hospital services</a:t>
            </a:r>
            <a:endParaRPr lang="en-US" sz="1620" dirty="0"/>
          </a:p>
        </p:txBody>
      </p:sp>
      <p:sp>
        <p:nvSpPr>
          <p:cNvPr id="37" name="Text 35"/>
          <p:cNvSpPr/>
          <p:nvPr/>
        </p:nvSpPr>
        <p:spPr>
          <a:xfrm>
            <a:off x="8540496" y="4937760"/>
            <a:ext cx="314553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70" dirty="0">
                <a:solidFill>
                  <a:srgbClr val="61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Insurance, ambulance, and other modules</a:t>
            </a:r>
            <a:endParaRPr lang="en-US" sz="12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017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B1BE"/>
                </a:solidFill>
              </a:rPr>
              <a:t>HMS   •   HOSPITAL MANAGEMENT SYSTEM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412480" y="18288"/>
            <a:ext cx="3749040" cy="3749040"/>
          </a:xfrm>
          <a:prstGeom prst="ellipse">
            <a:avLst/>
          </a:prstGeom>
          <a:solidFill>
            <a:srgbClr val="008F89">
              <a:alpha val="18000"/>
            </a:srgbClr>
          </a:solidFill>
          <a:ln w="12700">
            <a:solidFill>
              <a:srgbClr val="008F8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243584"/>
            <a:ext cx="27432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1828800"/>
            <a:ext cx="10497312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organized platform.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hospital workflows.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704088" y="3904488"/>
            <a:ext cx="960120" cy="59436"/>
          </a:xfrm>
          <a:prstGeom prst="rect">
            <a:avLst/>
          </a:prstGeom>
          <a:solidFill>
            <a:srgbClr val="17B9AD"/>
          </a:solidFill>
          <a:ln w="12700">
            <a:solidFill>
              <a:srgbClr val="17B9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4233672"/>
            <a:ext cx="10012680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1D4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HMS brings appointments, patient information, clinical tasks and billing into one role-secured system.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5797296"/>
            <a:ext cx="6949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kern="0" spc="230" dirty="0">
                <a:solidFill>
                  <a:srgbClr val="17B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1398</Words>
  <Application>Microsoft Office PowerPoint</Application>
  <PresentationFormat>Widescreen</PresentationFormat>
  <Paragraphs>385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LJ Institute of Computer Application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subject>Hospital Management System Project Presentation</dc:subject>
  <dc:creator>HMS Project Group 63</dc:creator>
  <cp:lastModifiedBy>lakshit suthar</cp:lastModifiedBy>
  <cp:revision>20</cp:revision>
  <dcterms:created xsi:type="dcterms:W3CDTF">2026-10-21T06:10:12Z</dcterms:created>
  <dcterms:modified xsi:type="dcterms:W3CDTF">2026-10-22T07:30:12Z</dcterms:modified>
</cp:coreProperties>
</file>